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296" y="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barChart>
        <c:barDir val="col"/>
        <c:grouping val="clustered"/>
        <c:varyColors val="0"/>
        <c:ser>
          <c:idx val="0"/>
          <c:order val="0"/>
          <c:tx>
            <c:strRef>
              <c:f>Sheet1!$B$1</c:f>
              <c:strCache>
                <c:ptCount val="1"/>
                <c:pt idx="0">
                  <c:v>Sum of Value</c:v>
                </c:pt>
              </c:strCache>
            </c:strRef>
          </c:tx>
          <c:spPr>
            <a:solidFill>
              <a:srgbClr val="E8570A"/>
            </a:solidFill>
            <a:effectLst/>
          </c:spPr>
          <c:invertIfNegative val="0"/>
          <c:cat>
            <c:strRef>
              <c:f>Sheet1!$A$2:$A$17</c:f>
              <c:strCache>
                <c:ptCount val="16"/>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strCache>
            </c:strRef>
          </c:cat>
          <c:val>
            <c:numRef>
              <c:f>Sheet1!$B$2:$B$17</c:f>
              <c:numCache>
                <c:formatCode>General</c:formatCode>
                <c:ptCount val="16"/>
                <c:pt idx="0">
                  <c:v>2100000</c:v>
                </c:pt>
                <c:pt idx="1">
                  <c:v>2250000</c:v>
                </c:pt>
                <c:pt idx="2">
                  <c:v>2400000</c:v>
                </c:pt>
                <c:pt idx="3">
                  <c:v>2350000</c:v>
                </c:pt>
                <c:pt idx="4">
                  <c:v>2500000</c:v>
                </c:pt>
                <c:pt idx="5">
                  <c:v>2800000</c:v>
                </c:pt>
                <c:pt idx="6">
                  <c:v>3100000</c:v>
                </c:pt>
                <c:pt idx="7">
                  <c:v>3200000</c:v>
                </c:pt>
                <c:pt idx="8">
                  <c:v>3400000</c:v>
                </c:pt>
                <c:pt idx="9">
                  <c:v>3350000</c:v>
                </c:pt>
                <c:pt idx="10">
                  <c:v>3600000</c:v>
                </c:pt>
                <c:pt idx="11">
                  <c:v>3750000</c:v>
                </c:pt>
                <c:pt idx="12">
                  <c:v>3800000</c:v>
                </c:pt>
                <c:pt idx="13">
                  <c:v>3900000</c:v>
                </c:pt>
                <c:pt idx="14">
                  <c:v>4000000</c:v>
                </c:pt>
                <c:pt idx="15">
                  <c:v>4100000</c:v>
                </c:pt>
              </c:numCache>
            </c:numRef>
          </c:val>
        </c:ser>
        <c:dLbls>
          <c:showLegendKey val="0"/>
          <c:showVal val="0"/>
          <c:showCatName val="0"/>
          <c:showSerName val="0"/>
          <c:showPercent val="0"/>
          <c:showBubbleSize val="0"/>
        </c:dLbls>
        <c:gapWidth val="150"/>
        <c:axId val="184899456"/>
        <c:axId val="184900992"/>
      </c:barChart>
      <c:catAx>
        <c:axId val="18489945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84900992"/>
        <c:crosses val="autoZero"/>
        <c:auto val="1"/>
        <c:lblAlgn val="ctr"/>
        <c:lblOffset val="100"/>
        <c:noMultiLvlLbl val="1"/>
      </c:catAx>
      <c:valAx>
        <c:axId val="184900992"/>
        <c:scaling>
          <c:orientation val="minMax"/>
        </c:scaling>
        <c:delete val="0"/>
        <c:axPos val="l"/>
        <c:majorGridlines>
          <c:spPr>
            <a:ln w="6350" cap="flat">
              <a:solidFill>
                <a:srgbClr val="3333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84899456"/>
        <c:crosses val="autoZero"/>
        <c:crossBetween val="between"/>
      </c:valAx>
      <c:spPr>
        <a:noFill/>
        <a:ln>
          <a:noFill/>
        </a:ln>
        <a:effectLst/>
      </c:spPr>
    </c:plotArea>
    <c:legend>
      <c:legendPos val="b"/>
      <c:layout/>
      <c:overlay val="0"/>
    </c:legend>
    <c:plotVisOnly val="1"/>
    <c:dispBlanksAs val="span"/>
    <c:showDLblsOverMax val="1"/>
  </c:chart>
  <c:spPr>
    <a:solidFill>
      <a:srgbClr val="1A1A1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doughnutChart>
        <c:varyColors val="1"/>
        <c:ser>
          <c:idx val="0"/>
          <c:order val="0"/>
          <c:tx>
            <c:strRef>
              <c:f>Sheet1!$B$1</c:f>
              <c:strCache>
                <c:ptCount val="1"/>
                <c:pt idx="0">
                  <c:v>Method</c:v>
                </c:pt>
              </c:strCache>
            </c:strRef>
          </c:tx>
          <c:spPr>
            <a:solidFill>
              <a:schemeClr val="accent1"/>
            </a:solidFill>
            <a:ln w="9525" cap="flat">
              <a:solidFill>
                <a:srgbClr val="F9F9F9"/>
              </a:solidFill>
              <a:prstDash val="solid"/>
              <a:round/>
            </a:ln>
            <a:effectLst/>
          </c:spPr>
          <c:dPt>
            <c:idx val="0"/>
            <c:bubble3D val="0"/>
            <c:spPr>
              <a:solidFill>
                <a:srgbClr val="E8570A"/>
              </a:solidFill>
              <a:effectLst/>
            </c:spPr>
          </c:dPt>
          <c:dPt>
            <c:idx val="1"/>
            <c:bubble3D val="0"/>
            <c:spPr>
              <a:solidFill>
                <a:srgbClr val="3D3D3D"/>
              </a:solidFill>
              <a:effectLst/>
            </c:spPr>
          </c:dPt>
          <c:dLbls>
            <c:dLbl>
              <c:idx val="0"/>
              <c:layout/>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dLbl>
            <c:dLbl>
              <c:idx val="1"/>
              <c:layout/>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dLbls>
          <c:cat>
            <c:strRef>
              <c:f>Sheet1!$A$2:$A$3</c:f>
              <c:strCache>
                <c:ptCount val="2"/>
                <c:pt idx="0">
                  <c:v>Weighted</c:v>
                </c:pt>
                <c:pt idx="1">
                  <c:v>Unweighted</c:v>
                </c:pt>
              </c:strCache>
            </c:strRef>
          </c:cat>
          <c:val>
            <c:numRef>
              <c:f>Sheet1!$B$2:$B$3</c:f>
              <c:numCache>
                <c:formatCode>General</c:formatCode>
                <c:ptCount val="2"/>
                <c:pt idx="0">
                  <c:v>56.65</c:v>
                </c:pt>
                <c:pt idx="1">
                  <c:v>43.35</c:v>
                </c:pt>
              </c:numCache>
            </c:numRef>
          </c:val>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layout/>
      <c:overlay val="0"/>
    </c:legend>
    <c:plotVisOnly val="1"/>
    <c:dispBlanksAs val="span"/>
    <c:showDLblsOverMax val="1"/>
  </c:chart>
  <c:spPr>
    <a:solidFill>
      <a:srgbClr val="1A1A1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Affordability Index</c:v>
                </c:pt>
              </c:strCache>
            </c:strRef>
          </c:tx>
          <c:spPr>
            <a:ln w="38100" cap="flat">
              <a:solidFill>
                <a:srgbClr val="E8570A"/>
              </a:solidFill>
              <a:prstDash val="solid"/>
              <a:round/>
            </a:ln>
            <a:effectLst/>
          </c:spPr>
          <c:marker>
            <c:symbol val="circle"/>
            <c:size val="6"/>
            <c:spPr>
              <a:solidFill>
                <a:srgbClr val="E8570A"/>
              </a:solidFill>
              <a:ln w="9525" cap="flat">
                <a:solidFill>
                  <a:srgbClr val="E8570A"/>
                </a:solidFill>
                <a:prstDash val="solid"/>
                <a:round/>
              </a:ln>
              <a:effectLst/>
            </c:spPr>
          </c:marker>
          <c:cat>
            <c:strRef>
              <c:f>Sheet1!$A$2:$A$37</c:f>
              <c:strCache>
                <c:ptCount val="36"/>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strCache>
            </c:strRef>
          </c:cat>
          <c:val>
            <c:numRef>
              <c:f>Sheet1!$B$2:$B$37</c:f>
              <c:numCache>
                <c:formatCode>General</c:formatCode>
                <c:ptCount val="36"/>
                <c:pt idx="0">
                  <c:v>100</c:v>
                </c:pt>
                <c:pt idx="1">
                  <c:v>90</c:v>
                </c:pt>
                <c:pt idx="2">
                  <c:v>84</c:v>
                </c:pt>
                <c:pt idx="3">
                  <c:v>82</c:v>
                </c:pt>
                <c:pt idx="4">
                  <c:v>81</c:v>
                </c:pt>
                <c:pt idx="5">
                  <c:v>84</c:v>
                </c:pt>
                <c:pt idx="6">
                  <c:v>88</c:v>
                </c:pt>
                <c:pt idx="7">
                  <c:v>97</c:v>
                </c:pt>
                <c:pt idx="8">
                  <c:v>98</c:v>
                </c:pt>
                <c:pt idx="9">
                  <c:v>100</c:v>
                </c:pt>
                <c:pt idx="10">
                  <c:v>104</c:v>
                </c:pt>
                <c:pt idx="11">
                  <c:v>100</c:v>
                </c:pt>
                <c:pt idx="12">
                  <c:v>98</c:v>
                </c:pt>
                <c:pt idx="13">
                  <c:v>97</c:v>
                </c:pt>
                <c:pt idx="14">
                  <c:v>90</c:v>
                </c:pt>
                <c:pt idx="15">
                  <c:v>90</c:v>
                </c:pt>
                <c:pt idx="16">
                  <c:v>88</c:v>
                </c:pt>
                <c:pt idx="17">
                  <c:v>87</c:v>
                </c:pt>
                <c:pt idx="18">
                  <c:v>86</c:v>
                </c:pt>
                <c:pt idx="19">
                  <c:v>80</c:v>
                </c:pt>
                <c:pt idx="20">
                  <c:v>78</c:v>
                </c:pt>
                <c:pt idx="21">
                  <c:v>80</c:v>
                </c:pt>
                <c:pt idx="22">
                  <c:v>81</c:v>
                </c:pt>
                <c:pt idx="23">
                  <c:v>81</c:v>
                </c:pt>
                <c:pt idx="24">
                  <c:v>80</c:v>
                </c:pt>
                <c:pt idx="25">
                  <c:v>78</c:v>
                </c:pt>
                <c:pt idx="26">
                  <c:v>75</c:v>
                </c:pt>
                <c:pt idx="27">
                  <c:v>70</c:v>
                </c:pt>
                <c:pt idx="28">
                  <c:v>68</c:v>
                </c:pt>
                <c:pt idx="29">
                  <c:v>65</c:v>
                </c:pt>
                <c:pt idx="30">
                  <c:v>63</c:v>
                </c:pt>
                <c:pt idx="31">
                  <c:v>62</c:v>
                </c:pt>
                <c:pt idx="32">
                  <c:v>61</c:v>
                </c:pt>
                <c:pt idx="33">
                  <c:v>60</c:v>
                </c:pt>
                <c:pt idx="34">
                  <c:v>59</c:v>
                </c:pt>
                <c:pt idx="35">
                  <c:v>59</c:v>
                </c:pt>
              </c:numCache>
            </c:numRef>
          </c:val>
          <c:smooth val="1"/>
        </c:ser>
        <c:dLbls>
          <c:showLegendKey val="0"/>
          <c:showVal val="0"/>
          <c:showCatName val="0"/>
          <c:showSerName val="0"/>
          <c:showPercent val="0"/>
          <c:showBubbleSize val="0"/>
        </c:dLbls>
        <c:marker val="1"/>
        <c:smooth val="0"/>
        <c:axId val="189018112"/>
        <c:axId val="189020032"/>
      </c:lineChart>
      <c:catAx>
        <c:axId val="18901811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89020032"/>
        <c:crosses val="autoZero"/>
        <c:auto val="1"/>
        <c:lblAlgn val="ctr"/>
        <c:lblOffset val="100"/>
        <c:noMultiLvlLbl val="1"/>
      </c:catAx>
      <c:valAx>
        <c:axId val="189020032"/>
        <c:scaling>
          <c:orientation val="minMax"/>
        </c:scaling>
        <c:delete val="0"/>
        <c:axPos val="l"/>
        <c:majorGridlines>
          <c:spPr>
            <a:ln w="6350" cap="flat">
              <a:solidFill>
                <a:srgbClr val="3333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89018112"/>
        <c:crosses val="autoZero"/>
        <c:crossBetween val="between"/>
      </c:valAx>
      <c:spPr>
        <a:noFill/>
        <a:ln>
          <a:noFill/>
        </a:ln>
        <a:effectLst/>
      </c:spPr>
    </c:plotArea>
    <c:plotVisOnly val="1"/>
    <c:dispBlanksAs val="span"/>
    <c:showDLblsOverMax val="1"/>
  </c:chart>
  <c:spPr>
    <a:solidFill>
      <a:srgbClr val="1A1A1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barChart>
        <c:barDir val="col"/>
        <c:grouping val="clustered"/>
        <c:varyColors val="0"/>
        <c:ser>
          <c:idx val="0"/>
          <c:order val="0"/>
          <c:tx>
            <c:strRef>
              <c:f>Sheet1!$B$1</c:f>
              <c:strCache>
                <c:ptCount val="1"/>
                <c:pt idx="0">
                  <c:v>Bupropion</c:v>
                </c:pt>
              </c:strCache>
            </c:strRef>
          </c:tx>
          <c:spPr>
            <a:solidFill>
              <a:srgbClr val="E8570A"/>
            </a:solidFill>
            <a:effectLst/>
          </c:spPr>
          <c:invertIfNegative val="0"/>
          <c:cat>
            <c:strRef>
              <c:f>Sheet1!$A$2:$A$12</c:f>
              <c:strCache>
                <c:ptCount val="11"/>
                <c:pt idx="0">
                  <c:v>2004/05</c:v>
                </c:pt>
                <c:pt idx="1">
                  <c:v>2005/06</c:v>
                </c:pt>
                <c:pt idx="2">
                  <c:v>2006/07</c:v>
                </c:pt>
                <c:pt idx="3">
                  <c:v>2007/08</c:v>
                </c:pt>
                <c:pt idx="4">
                  <c:v>2008/09</c:v>
                </c:pt>
                <c:pt idx="5">
                  <c:v>2009/10</c:v>
                </c:pt>
                <c:pt idx="6">
                  <c:v>2010/11</c:v>
                </c:pt>
                <c:pt idx="7">
                  <c:v>2011/12</c:v>
                </c:pt>
                <c:pt idx="8">
                  <c:v>2012/13</c:v>
                </c:pt>
                <c:pt idx="9">
                  <c:v>2013/14</c:v>
                </c:pt>
                <c:pt idx="10">
                  <c:v>2014/15</c:v>
                </c:pt>
              </c:strCache>
            </c:strRef>
          </c:cat>
          <c:val>
            <c:numRef>
              <c:f>Sheet1!$B$2:$B$12</c:f>
              <c:numCache>
                <c:formatCode>General</c:formatCode>
                <c:ptCount val="11"/>
                <c:pt idx="0">
                  <c:v>0.8</c:v>
                </c:pt>
                <c:pt idx="1">
                  <c:v>0.9</c:v>
                </c:pt>
                <c:pt idx="2">
                  <c:v>0.85</c:v>
                </c:pt>
                <c:pt idx="3">
                  <c:v>0.95</c:v>
                </c:pt>
                <c:pt idx="4">
                  <c:v>1</c:v>
                </c:pt>
                <c:pt idx="5">
                  <c:v>0.9</c:v>
                </c:pt>
                <c:pt idx="6">
                  <c:v>0.85</c:v>
                </c:pt>
                <c:pt idx="7">
                  <c:v>0.8</c:v>
                </c:pt>
                <c:pt idx="8">
                  <c:v>0.75</c:v>
                </c:pt>
                <c:pt idx="9">
                  <c:v>0.7</c:v>
                </c:pt>
                <c:pt idx="10">
                  <c:v>0.65</c:v>
                </c:pt>
              </c:numCache>
            </c:numRef>
          </c:val>
        </c:ser>
        <c:ser>
          <c:idx val="1"/>
          <c:order val="1"/>
          <c:tx>
            <c:strRef>
              <c:f>Sheet1!$C$1</c:f>
              <c:strCache>
                <c:ptCount val="1"/>
                <c:pt idx="0">
                  <c:v>NRT</c:v>
                </c:pt>
              </c:strCache>
            </c:strRef>
          </c:tx>
          <c:spPr>
            <a:solidFill>
              <a:srgbClr val="FF7A2F"/>
            </a:solidFill>
            <a:effectLst/>
          </c:spPr>
          <c:invertIfNegative val="0"/>
          <c:cat>
            <c:strRef>
              <c:f>Sheet1!$A$2:$A$12</c:f>
              <c:strCache>
                <c:ptCount val="11"/>
                <c:pt idx="0">
                  <c:v>2004/05</c:v>
                </c:pt>
                <c:pt idx="1">
                  <c:v>2005/06</c:v>
                </c:pt>
                <c:pt idx="2">
                  <c:v>2006/07</c:v>
                </c:pt>
                <c:pt idx="3">
                  <c:v>2007/08</c:v>
                </c:pt>
                <c:pt idx="4">
                  <c:v>2008/09</c:v>
                </c:pt>
                <c:pt idx="5">
                  <c:v>2009/10</c:v>
                </c:pt>
                <c:pt idx="6">
                  <c:v>2010/11</c:v>
                </c:pt>
                <c:pt idx="7">
                  <c:v>2011/12</c:v>
                </c:pt>
                <c:pt idx="8">
                  <c:v>2012/13</c:v>
                </c:pt>
                <c:pt idx="9">
                  <c:v>2013/14</c:v>
                </c:pt>
                <c:pt idx="10">
                  <c:v>2014/15</c:v>
                </c:pt>
              </c:strCache>
            </c:strRef>
          </c:cat>
          <c:val>
            <c:numRef>
              <c:f>Sheet1!$C$2:$C$12</c:f>
              <c:numCache>
                <c:formatCode>General</c:formatCode>
                <c:ptCount val="11"/>
                <c:pt idx="0">
                  <c:v>0.7</c:v>
                </c:pt>
                <c:pt idx="1">
                  <c:v>0.75</c:v>
                </c:pt>
                <c:pt idx="2">
                  <c:v>0.8</c:v>
                </c:pt>
                <c:pt idx="3">
                  <c:v>0.9</c:v>
                </c:pt>
                <c:pt idx="4">
                  <c:v>0.85</c:v>
                </c:pt>
                <c:pt idx="5">
                  <c:v>0.95</c:v>
                </c:pt>
                <c:pt idx="6">
                  <c:v>1</c:v>
                </c:pt>
                <c:pt idx="7">
                  <c:v>0.95</c:v>
                </c:pt>
                <c:pt idx="8">
                  <c:v>0.9</c:v>
                </c:pt>
                <c:pt idx="9">
                  <c:v>0.85</c:v>
                </c:pt>
                <c:pt idx="10">
                  <c:v>0.8</c:v>
                </c:pt>
              </c:numCache>
            </c:numRef>
          </c:val>
        </c:ser>
        <c:ser>
          <c:idx val="2"/>
          <c:order val="2"/>
          <c:tx>
            <c:strRef>
              <c:f>Sheet1!$D$1</c:f>
              <c:strCache>
                <c:ptCount val="1"/>
                <c:pt idx="0">
                  <c:v>Varenicline</c:v>
                </c:pt>
              </c:strCache>
            </c:strRef>
          </c:tx>
          <c:spPr>
            <a:solidFill>
              <a:srgbClr val="CC4400"/>
            </a:solidFill>
            <a:effectLst/>
          </c:spPr>
          <c:invertIfNegative val="0"/>
          <c:cat>
            <c:strRef>
              <c:f>Sheet1!$A$2:$A$12</c:f>
              <c:strCache>
                <c:ptCount val="11"/>
                <c:pt idx="0">
                  <c:v>2004/05</c:v>
                </c:pt>
                <c:pt idx="1">
                  <c:v>2005/06</c:v>
                </c:pt>
                <c:pt idx="2">
                  <c:v>2006/07</c:v>
                </c:pt>
                <c:pt idx="3">
                  <c:v>2007/08</c:v>
                </c:pt>
                <c:pt idx="4">
                  <c:v>2008/09</c:v>
                </c:pt>
                <c:pt idx="5">
                  <c:v>2009/10</c:v>
                </c:pt>
                <c:pt idx="6">
                  <c:v>2010/11</c:v>
                </c:pt>
                <c:pt idx="7">
                  <c:v>2011/12</c:v>
                </c:pt>
                <c:pt idx="8">
                  <c:v>2012/13</c:v>
                </c:pt>
                <c:pt idx="9">
                  <c:v>2013/14</c:v>
                </c:pt>
                <c:pt idx="10">
                  <c:v>2014/15</c:v>
                </c:pt>
              </c:strCache>
            </c:strRef>
          </c:cat>
          <c:val>
            <c:numRef>
              <c:f>Sheet1!$D$2:$D$12</c:f>
              <c:numCache>
                <c:formatCode>General</c:formatCode>
                <c:ptCount val="11"/>
                <c:pt idx="0">
                  <c:v>0</c:v>
                </c:pt>
                <c:pt idx="1">
                  <c:v>0</c:v>
                </c:pt>
                <c:pt idx="2">
                  <c:v>0.3</c:v>
                </c:pt>
                <c:pt idx="3">
                  <c:v>0.5</c:v>
                </c:pt>
                <c:pt idx="4">
                  <c:v>0.7</c:v>
                </c:pt>
                <c:pt idx="5">
                  <c:v>0.75</c:v>
                </c:pt>
                <c:pt idx="6">
                  <c:v>0.8</c:v>
                </c:pt>
                <c:pt idx="7">
                  <c:v>0.85</c:v>
                </c:pt>
                <c:pt idx="8">
                  <c:v>0.9</c:v>
                </c:pt>
                <c:pt idx="9">
                  <c:v>0.85</c:v>
                </c:pt>
                <c:pt idx="10">
                  <c:v>0.8</c:v>
                </c:pt>
              </c:numCache>
            </c:numRef>
          </c:val>
        </c:ser>
        <c:dLbls>
          <c:showLegendKey val="0"/>
          <c:showVal val="0"/>
          <c:showCatName val="0"/>
          <c:showSerName val="0"/>
          <c:showPercent val="0"/>
          <c:showBubbleSize val="0"/>
        </c:dLbls>
        <c:gapWidth val="150"/>
        <c:axId val="190556416"/>
        <c:axId val="190558208"/>
      </c:barChart>
      <c:catAx>
        <c:axId val="19055641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90558208"/>
        <c:crosses val="autoZero"/>
        <c:auto val="1"/>
        <c:lblAlgn val="ctr"/>
        <c:lblOffset val="100"/>
        <c:noMultiLvlLbl val="1"/>
      </c:catAx>
      <c:valAx>
        <c:axId val="190558208"/>
        <c:scaling>
          <c:orientation val="minMax"/>
        </c:scaling>
        <c:delete val="0"/>
        <c:axPos val="l"/>
        <c:majorGridlines>
          <c:spPr>
            <a:ln w="6350" cap="flat">
              <a:solidFill>
                <a:srgbClr val="3333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90556416"/>
        <c:crosses val="autoZero"/>
        <c:crossBetween val="between"/>
      </c:valAx>
      <c:spPr>
        <a:noFill/>
        <a:ln>
          <a:noFill/>
        </a:ln>
        <a:effectLst/>
      </c:spPr>
    </c:plotArea>
    <c:legend>
      <c:legendPos val="b"/>
      <c:layout/>
      <c:overlay val="0"/>
    </c:legend>
    <c:plotVisOnly val="1"/>
    <c:dispBlanksAs val="span"/>
    <c:showDLblsOverMax val="1"/>
  </c:chart>
  <c:spPr>
    <a:solidFill>
      <a:srgbClr val="1A1A1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IN"/>
  <c:roundedCorners val="1"/>
  <c:style val="2"/>
  <c:chart>
    <c:autoTitleDeleted val="1"/>
    <c:plotArea>
      <c:layout/>
      <c:lineChart>
        <c:grouping val="standard"/>
        <c:varyColors val="0"/>
        <c:ser>
          <c:idx val="0"/>
          <c:order val="0"/>
          <c:tx>
            <c:strRef>
              <c:f>Sheet1!$B$1</c:f>
              <c:strCache>
                <c:ptCount val="1"/>
                <c:pt idx="0">
                  <c:v>Expenditure %</c:v>
                </c:pt>
              </c:strCache>
            </c:strRef>
          </c:tx>
          <c:spPr>
            <a:ln w="38100" cap="flat">
              <a:solidFill>
                <a:srgbClr val="E8570A"/>
              </a:solidFill>
              <a:prstDash val="solid"/>
              <a:round/>
            </a:ln>
            <a:effectLst/>
          </c:spPr>
          <c:marker>
            <c:symbol val="circle"/>
            <c:size val="6"/>
            <c:spPr>
              <a:solidFill>
                <a:srgbClr val="E8570A"/>
              </a:solidFill>
              <a:ln w="9525" cap="flat">
                <a:solidFill>
                  <a:srgbClr val="E8570A"/>
                </a:solidFill>
                <a:prstDash val="solid"/>
                <a:round/>
              </a:ln>
              <a:effectLst/>
            </c:spPr>
          </c:marker>
          <c:cat>
            <c:strRef>
              <c:f>Sheet1!$A$2:$A$22</c:f>
              <c:strCache>
                <c:ptCount val="21"/>
                <c:pt idx="0">
                  <c:v>1.5</c:v>
                </c:pt>
                <c:pt idx="1">
                  <c:v>1.6</c:v>
                </c:pt>
                <c:pt idx="2">
                  <c:v>1.7</c:v>
                </c:pt>
                <c:pt idx="3">
                  <c:v>1.8</c:v>
                </c:pt>
                <c:pt idx="4">
                  <c:v>1.9</c:v>
                </c:pt>
                <c:pt idx="5">
                  <c:v>2.0</c:v>
                </c:pt>
                <c:pt idx="6">
                  <c:v>2.1</c:v>
                </c:pt>
                <c:pt idx="7">
                  <c:v>2.2</c:v>
                </c:pt>
                <c:pt idx="8">
                  <c:v>2.3</c:v>
                </c:pt>
                <c:pt idx="9">
                  <c:v>2.4</c:v>
                </c:pt>
                <c:pt idx="10">
                  <c:v>2.5</c:v>
                </c:pt>
                <c:pt idx="11">
                  <c:v>2.6</c:v>
                </c:pt>
                <c:pt idx="12">
                  <c:v>2.7</c:v>
                </c:pt>
                <c:pt idx="13">
                  <c:v>2.8</c:v>
                </c:pt>
                <c:pt idx="14">
                  <c:v>2.9</c:v>
                </c:pt>
                <c:pt idx="15">
                  <c:v>3.0</c:v>
                </c:pt>
                <c:pt idx="16">
                  <c:v>3.1</c:v>
                </c:pt>
                <c:pt idx="17">
                  <c:v>3.2</c:v>
                </c:pt>
                <c:pt idx="18">
                  <c:v>3.3</c:v>
                </c:pt>
                <c:pt idx="19">
                  <c:v>3.4</c:v>
                </c:pt>
                <c:pt idx="20">
                  <c:v>3.5</c:v>
                </c:pt>
              </c:strCache>
            </c:strRef>
          </c:cat>
          <c:val>
            <c:numRef>
              <c:f>Sheet1!$B$2:$B$22</c:f>
              <c:numCache>
                <c:formatCode>General</c:formatCode>
                <c:ptCount val="21"/>
                <c:pt idx="0">
                  <c:v>1.2</c:v>
                </c:pt>
                <c:pt idx="1">
                  <c:v>1.5</c:v>
                </c:pt>
                <c:pt idx="2">
                  <c:v>2.1</c:v>
                </c:pt>
                <c:pt idx="3">
                  <c:v>3.5</c:v>
                </c:pt>
                <c:pt idx="4">
                  <c:v>4.2</c:v>
                </c:pt>
                <c:pt idx="5">
                  <c:v>5.2</c:v>
                </c:pt>
                <c:pt idx="6">
                  <c:v>4.8</c:v>
                </c:pt>
                <c:pt idx="7">
                  <c:v>4.0999999999999996</c:v>
                </c:pt>
                <c:pt idx="8">
                  <c:v>3.8</c:v>
                </c:pt>
                <c:pt idx="9">
                  <c:v>3.2</c:v>
                </c:pt>
                <c:pt idx="10">
                  <c:v>2.8</c:v>
                </c:pt>
                <c:pt idx="11">
                  <c:v>2.5</c:v>
                </c:pt>
                <c:pt idx="12">
                  <c:v>2</c:v>
                </c:pt>
                <c:pt idx="13">
                  <c:v>1.8</c:v>
                </c:pt>
                <c:pt idx="14">
                  <c:v>1.5</c:v>
                </c:pt>
                <c:pt idx="15">
                  <c:v>1.2</c:v>
                </c:pt>
                <c:pt idx="16">
                  <c:v>1</c:v>
                </c:pt>
                <c:pt idx="17">
                  <c:v>0.9</c:v>
                </c:pt>
                <c:pt idx="18">
                  <c:v>0.9</c:v>
                </c:pt>
                <c:pt idx="19">
                  <c:v>0.8</c:v>
                </c:pt>
                <c:pt idx="20">
                  <c:v>0.8</c:v>
                </c:pt>
              </c:numCache>
            </c:numRef>
          </c:val>
          <c:smooth val="1"/>
        </c:ser>
        <c:dLbls>
          <c:showLegendKey val="0"/>
          <c:showVal val="0"/>
          <c:showCatName val="0"/>
          <c:showSerName val="0"/>
          <c:showPercent val="0"/>
          <c:showBubbleSize val="0"/>
        </c:dLbls>
        <c:marker val="1"/>
        <c:smooth val="0"/>
        <c:axId val="190777216"/>
        <c:axId val="190779392"/>
      </c:lineChart>
      <c:catAx>
        <c:axId val="19077721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90779392"/>
        <c:crosses val="autoZero"/>
        <c:auto val="1"/>
        <c:lblAlgn val="ctr"/>
        <c:lblOffset val="100"/>
        <c:noMultiLvlLbl val="1"/>
      </c:catAx>
      <c:valAx>
        <c:axId val="190779392"/>
        <c:scaling>
          <c:orientation val="minMax"/>
        </c:scaling>
        <c:delete val="0"/>
        <c:axPos val="l"/>
        <c:majorGridlines>
          <c:spPr>
            <a:ln w="6350" cap="flat">
              <a:solidFill>
                <a:srgbClr val="3333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190777216"/>
        <c:crosses val="autoZero"/>
        <c:crossBetween val="between"/>
      </c:valAx>
      <c:spPr>
        <a:noFill/>
        <a:ln>
          <a:noFill/>
        </a:ln>
        <a:effectLst/>
      </c:spPr>
    </c:plotArea>
    <c:plotVisOnly val="1"/>
    <c:dispBlanksAs val="span"/>
    <c:showDLblsOverMax val="1"/>
  </c:chart>
  <c:spPr>
    <a:solidFill>
      <a:srgbClr val="1A1A1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2B4474BD-2552-4977-B0D8-125D169B7547}" type="datetimeFigureOut">
              <a:rPr lang="en-IN" smtClean="0"/>
              <a:t>13-04-2026</a:t>
            </a:fld>
            <a:endParaRPr lang="en-IN"/>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D69B23A3-2747-4E8B-8D13-805661DC7246}" type="slidenum">
              <a:rPr lang="en-IN" smtClean="0"/>
              <a:t>‹#›</a:t>
            </a:fld>
            <a:endParaRPr lang="en-IN"/>
          </a:p>
        </p:txBody>
      </p:sp>
    </p:spTree>
    <p:extLst>
      <p:ext uri="{BB962C8B-B14F-4D97-AF65-F5344CB8AC3E}">
        <p14:creationId xmlns:p14="http://schemas.microsoft.com/office/powerpoint/2010/main" val="412521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4.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A0A"/>
          </a:solidFill>
          <a:ln w="12700">
            <a:solidFill>
              <a:srgbClr val="0A0A0A"/>
            </a:solidFill>
            <a:prstDash val="solid"/>
          </a:ln>
        </p:spPr>
      </p:sp>
      <p:sp>
        <p:nvSpPr>
          <p:cNvPr id="3" name="Shape 1"/>
          <p:cNvSpPr/>
          <p:nvPr/>
        </p:nvSpPr>
        <p:spPr>
          <a:xfrm>
            <a:off x="0" y="658368"/>
            <a:ext cx="9144000" cy="658368"/>
          </a:xfrm>
          <a:prstGeom prst="rect">
            <a:avLst/>
          </a:prstGeom>
          <a:solidFill>
            <a:srgbClr val="1A1A1A">
              <a:alpha val="95000"/>
            </a:srgbClr>
          </a:solidFill>
          <a:ln w="12700">
            <a:solidFill>
              <a:srgbClr val="0A0A0A"/>
            </a:solidFill>
            <a:prstDash val="solid"/>
          </a:ln>
        </p:spPr>
      </p:sp>
      <p:sp>
        <p:nvSpPr>
          <p:cNvPr id="4" name="Shape 2"/>
          <p:cNvSpPr/>
          <p:nvPr/>
        </p:nvSpPr>
        <p:spPr>
          <a:xfrm>
            <a:off x="0" y="1316736"/>
            <a:ext cx="9144000" cy="658368"/>
          </a:xfrm>
          <a:prstGeom prst="rect">
            <a:avLst/>
          </a:prstGeom>
          <a:solidFill>
            <a:srgbClr val="0A0A0A">
              <a:alpha val="90000"/>
            </a:srgbClr>
          </a:solidFill>
          <a:ln w="12700">
            <a:solidFill>
              <a:srgbClr val="0A0A0A"/>
            </a:solidFill>
            <a:prstDash val="solid"/>
          </a:ln>
        </p:spPr>
      </p:sp>
      <p:sp>
        <p:nvSpPr>
          <p:cNvPr id="5" name="Shape 3"/>
          <p:cNvSpPr/>
          <p:nvPr/>
        </p:nvSpPr>
        <p:spPr>
          <a:xfrm>
            <a:off x="0" y="1975104"/>
            <a:ext cx="9144000" cy="658368"/>
          </a:xfrm>
          <a:prstGeom prst="rect">
            <a:avLst/>
          </a:prstGeom>
          <a:solidFill>
            <a:srgbClr val="1A1A1A">
              <a:alpha val="85000"/>
            </a:srgbClr>
          </a:solidFill>
          <a:ln w="12700">
            <a:solidFill>
              <a:srgbClr val="0A0A0A"/>
            </a:solidFill>
            <a:prstDash val="solid"/>
          </a:ln>
        </p:spPr>
      </p:sp>
      <p:sp>
        <p:nvSpPr>
          <p:cNvPr id="6" name="Shape 4"/>
          <p:cNvSpPr/>
          <p:nvPr/>
        </p:nvSpPr>
        <p:spPr>
          <a:xfrm>
            <a:off x="0" y="2633472"/>
            <a:ext cx="9144000" cy="658368"/>
          </a:xfrm>
          <a:prstGeom prst="rect">
            <a:avLst/>
          </a:prstGeom>
          <a:solidFill>
            <a:srgbClr val="0A0A0A">
              <a:alpha val="80000"/>
            </a:srgbClr>
          </a:solidFill>
          <a:ln w="12700">
            <a:solidFill>
              <a:srgbClr val="0A0A0A"/>
            </a:solidFill>
            <a:prstDash val="solid"/>
          </a:ln>
        </p:spPr>
      </p:sp>
      <p:sp>
        <p:nvSpPr>
          <p:cNvPr id="7" name="Shape 5"/>
          <p:cNvSpPr/>
          <p:nvPr/>
        </p:nvSpPr>
        <p:spPr>
          <a:xfrm>
            <a:off x="0" y="3291840"/>
            <a:ext cx="9144000" cy="658368"/>
          </a:xfrm>
          <a:prstGeom prst="rect">
            <a:avLst/>
          </a:prstGeom>
          <a:solidFill>
            <a:srgbClr val="1A1A1A">
              <a:alpha val="75000"/>
            </a:srgbClr>
          </a:solidFill>
          <a:ln w="12700">
            <a:solidFill>
              <a:srgbClr val="0A0A0A"/>
            </a:solidFill>
            <a:prstDash val="solid"/>
          </a:ln>
        </p:spPr>
      </p:sp>
      <p:sp>
        <p:nvSpPr>
          <p:cNvPr id="8" name="Shape 6"/>
          <p:cNvSpPr/>
          <p:nvPr/>
        </p:nvSpPr>
        <p:spPr>
          <a:xfrm>
            <a:off x="0" y="3950208"/>
            <a:ext cx="9144000" cy="658368"/>
          </a:xfrm>
          <a:prstGeom prst="rect">
            <a:avLst/>
          </a:prstGeom>
          <a:solidFill>
            <a:srgbClr val="0A0A0A">
              <a:alpha val="70000"/>
            </a:srgbClr>
          </a:solidFill>
          <a:ln w="12700">
            <a:solidFill>
              <a:srgbClr val="0A0A0A"/>
            </a:solidFill>
            <a:prstDash val="solid"/>
          </a:ln>
        </p:spPr>
      </p:sp>
      <p:sp>
        <p:nvSpPr>
          <p:cNvPr id="9" name="Shape 7"/>
          <p:cNvSpPr/>
          <p:nvPr/>
        </p:nvSpPr>
        <p:spPr>
          <a:xfrm>
            <a:off x="0" y="4608576"/>
            <a:ext cx="9144000" cy="658368"/>
          </a:xfrm>
          <a:prstGeom prst="rect">
            <a:avLst/>
          </a:prstGeom>
          <a:solidFill>
            <a:srgbClr val="1A1A1A">
              <a:alpha val="65000"/>
            </a:srgbClr>
          </a:solidFill>
          <a:ln w="12700">
            <a:solidFill>
              <a:srgbClr val="0A0A0A"/>
            </a:solidFill>
            <a:prstDash val="solid"/>
          </a:ln>
        </p:spPr>
      </p:sp>
      <p:sp>
        <p:nvSpPr>
          <p:cNvPr id="12" name="Shape 10"/>
          <p:cNvSpPr/>
          <p:nvPr/>
        </p:nvSpPr>
        <p:spPr>
          <a:xfrm>
            <a:off x="228600" y="182880"/>
            <a:ext cx="8686800" cy="4503420"/>
          </a:xfrm>
          <a:prstGeom prst="rect">
            <a:avLst/>
          </a:prstGeom>
          <a:solidFill>
            <a:srgbClr val="2D2D2D">
              <a:alpha val="85000"/>
            </a:srgbClr>
          </a:solidFill>
          <a:ln w="6350">
            <a:solidFill>
              <a:srgbClr val="3D3D3D"/>
            </a:solidFill>
            <a:prstDash val="solid"/>
          </a:ln>
        </p:spPr>
      </p:sp>
      <p:sp>
        <p:nvSpPr>
          <p:cNvPr id="13" name="Shape 11"/>
          <p:cNvSpPr/>
          <p:nvPr/>
        </p:nvSpPr>
        <p:spPr>
          <a:xfrm>
            <a:off x="1097280" y="914400"/>
            <a:ext cx="6949440" cy="73152"/>
          </a:xfrm>
          <a:prstGeom prst="rect">
            <a:avLst/>
          </a:prstGeom>
          <a:solidFill>
            <a:srgbClr val="E8570A"/>
          </a:solidFill>
          <a:ln w="12700">
            <a:solidFill>
              <a:srgbClr val="E8570A"/>
            </a:solidFill>
            <a:prstDash val="solid"/>
          </a:ln>
        </p:spPr>
      </p:sp>
      <p:pic>
        <p:nvPicPr>
          <p:cNvPr id="14" name="Image 0" descr="preencoded.png"/>
          <p:cNvPicPr>
            <a:picLocks noChangeAspect="1"/>
          </p:cNvPicPr>
          <p:nvPr/>
        </p:nvPicPr>
        <p:blipFill>
          <a:blip r:embed="rId3"/>
          <a:stretch>
            <a:fillRect/>
          </a:stretch>
        </p:blipFill>
        <p:spPr>
          <a:xfrm>
            <a:off x="4206240" y="1051560"/>
            <a:ext cx="731520" cy="411480"/>
          </a:xfrm>
          <a:prstGeom prst="rect">
            <a:avLst/>
          </a:prstGeom>
        </p:spPr>
      </p:pic>
      <p:sp>
        <p:nvSpPr>
          <p:cNvPr id="15" name="Text 12"/>
          <p:cNvSpPr/>
          <p:nvPr/>
        </p:nvSpPr>
        <p:spPr>
          <a:xfrm>
            <a:off x="1280160" y="1554480"/>
            <a:ext cx="6583680" cy="1417320"/>
          </a:xfrm>
          <a:prstGeom prst="rect">
            <a:avLst/>
          </a:prstGeom>
          <a:noFill/>
          <a:ln/>
        </p:spPr>
        <p:txBody>
          <a:bodyPr wrap="square" rtlCol="0" anchor="ctr"/>
          <a:lstStyle/>
          <a:p>
            <a:pPr marL="0" indent="0" algn="ctr">
              <a:buNone/>
            </a:pPr>
            <a:r>
              <a:rPr lang="en-US" sz="3600" b="1" kern="0" spc="200" dirty="0">
                <a:solidFill>
                  <a:srgbClr val="FFFFFF"/>
                </a:solidFill>
                <a:latin typeface="Arial Black" pitchFamily="34" charset="0"/>
                <a:ea typeface="Arial Black" pitchFamily="34" charset="-122"/>
                <a:cs typeface="Arial Black" pitchFamily="34" charset="-120"/>
              </a:rPr>
              <a:t>SMOKING IMPACT &amp; HEALTHCARE</a:t>
            </a:r>
            <a:endParaRPr lang="en-US" sz="3600" dirty="0"/>
          </a:p>
          <a:p>
            <a:pPr marL="0" indent="0" algn="ctr">
              <a:buNone/>
            </a:pPr>
            <a:r>
              <a:rPr lang="en-US" sz="3600" b="1" kern="0" spc="200" dirty="0" smtClean="0">
                <a:solidFill>
                  <a:srgbClr val="E8570A"/>
                </a:solidFill>
                <a:latin typeface="Arial Black" pitchFamily="34" charset="0"/>
                <a:ea typeface="Arial Black" pitchFamily="34" charset="-122"/>
                <a:cs typeface="Arial Black" pitchFamily="34" charset="-120"/>
              </a:rPr>
              <a:t>ANALYSIS</a:t>
            </a:r>
            <a:r>
              <a:rPr lang="en-US" sz="3600" dirty="0" smtClean="0"/>
              <a:t/>
            </a:r>
            <a:br>
              <a:rPr lang="en-US" sz="3600" dirty="0" smtClean="0"/>
            </a:br>
            <a:endParaRPr lang="en-US" sz="3600" b="1" kern="0" spc="200" dirty="0" smtClean="0">
              <a:solidFill>
                <a:srgbClr val="E8570A"/>
              </a:solidFill>
              <a:latin typeface="Arial Black" pitchFamily="34" charset="0"/>
              <a:ea typeface="Arial Black" pitchFamily="34" charset="-122"/>
              <a:cs typeface="Arial Black" pitchFamily="34" charset="-120"/>
            </a:endParaRPr>
          </a:p>
        </p:txBody>
      </p:sp>
      <p:sp>
        <p:nvSpPr>
          <p:cNvPr id="16" name="Text 13"/>
          <p:cNvSpPr/>
          <p:nvPr/>
        </p:nvSpPr>
        <p:spPr>
          <a:xfrm>
            <a:off x="1280160" y="3209544"/>
            <a:ext cx="6583680" cy="411480"/>
          </a:xfrm>
          <a:prstGeom prst="rect">
            <a:avLst/>
          </a:prstGeom>
          <a:noFill/>
          <a:ln/>
        </p:spPr>
        <p:txBody>
          <a:bodyPr wrap="square" rtlCol="0" anchor="ctr"/>
          <a:lstStyle/>
          <a:p>
            <a:pPr algn="r"/>
            <a:r>
              <a:rPr lang="en-US" sz="1400" dirty="0">
                <a:solidFill>
                  <a:schemeClr val="bg1"/>
                </a:solidFill>
                <a:latin typeface="Bookman Old Style" panose="02050604050505020204" pitchFamily="18" charset="0"/>
              </a:rPr>
              <a:t>Smoking is one of the leading causes of preventable diseases and deaths worldwide. This analysis explores the impact of smoking on different age groups and its relationship with healthcare outcomes. The dashboard highlights key trends in smoker demographics, mortality rates, treatment methods, and tobacco affordability. By analyzing this data, we can better understand the health and economic effects of smoking and support informed public health decisions</a:t>
            </a:r>
            <a:r>
              <a:rPr lang="en-US" sz="1400" dirty="0">
                <a:solidFill>
                  <a:schemeClr val="bg1"/>
                </a:solidFill>
              </a:rPr>
              <a:t>.</a:t>
            </a:r>
          </a:p>
        </p:txBody>
      </p:sp>
      <p:sp>
        <p:nvSpPr>
          <p:cNvPr id="17" name="Shape 14"/>
          <p:cNvSpPr/>
          <p:nvPr/>
        </p:nvSpPr>
        <p:spPr>
          <a:xfrm>
            <a:off x="1097280" y="4206240"/>
            <a:ext cx="6949440" cy="73152"/>
          </a:xfrm>
          <a:prstGeom prst="rect">
            <a:avLst/>
          </a:prstGeom>
          <a:solidFill>
            <a:srgbClr val="E8570A"/>
          </a:solidFill>
          <a:ln w="12700">
            <a:solidFill>
              <a:srgbClr val="E8570A"/>
            </a:solidFill>
            <a:prstDash val="solid"/>
          </a:ln>
        </p:spPr>
      </p:sp>
      <p:sp>
        <p:nvSpPr>
          <p:cNvPr id="18" name="Text 15"/>
          <p:cNvSpPr/>
          <p:nvPr/>
        </p:nvSpPr>
        <p:spPr>
          <a:xfrm>
            <a:off x="0" y="4800600"/>
            <a:ext cx="9144000" cy="320040"/>
          </a:xfrm>
          <a:prstGeom prst="rect">
            <a:avLst/>
          </a:prstGeom>
          <a:noFill/>
          <a:ln/>
        </p:spPr>
        <p:txBody>
          <a:bodyPr wrap="square" rtlCol="0" anchor="ctr"/>
          <a:lstStyle/>
          <a:p>
            <a:pPr marL="0" indent="0" algn="ctr">
              <a:buNone/>
            </a:pPr>
            <a:r>
              <a:rPr lang="en-US" sz="1000" dirty="0">
                <a:solidFill>
                  <a:srgbClr val="3D3D3D"/>
                </a:solidFill>
                <a:latin typeface="Calibri" pitchFamily="34" charset="0"/>
                <a:ea typeface="Calibri" pitchFamily="34" charset="-122"/>
                <a:cs typeface="Calibri" pitchFamily="34" charset="-120"/>
              </a:rPr>
              <a:t>Confidential | Healthcare Analytics Division</a:t>
            </a:r>
            <a:endParaRPr lang="en-US" sz="1000" dirty="0"/>
          </a:p>
        </p:txBody>
      </p:sp>
      <p:sp>
        <p:nvSpPr>
          <p:cNvPr id="19" name="Shape 16"/>
          <p:cNvSpPr/>
          <p:nvPr/>
        </p:nvSpPr>
        <p:spPr>
          <a:xfrm>
            <a:off x="0" y="0"/>
            <a:ext cx="457200" cy="457200"/>
          </a:xfrm>
          <a:prstGeom prst="rect">
            <a:avLst/>
          </a:prstGeom>
          <a:solidFill>
            <a:srgbClr val="E8570A"/>
          </a:solidFill>
          <a:ln w="12700">
            <a:solidFill>
              <a:srgbClr val="E8570A"/>
            </a:solidFill>
            <a:prstDash val="solid"/>
          </a:ln>
        </p:spPr>
      </p:sp>
      <p:sp>
        <p:nvSpPr>
          <p:cNvPr id="20" name="Shape 17"/>
          <p:cNvSpPr/>
          <p:nvPr/>
        </p:nvSpPr>
        <p:spPr>
          <a:xfrm>
            <a:off x="8686800" y="4686300"/>
            <a:ext cx="457200" cy="457200"/>
          </a:xfrm>
          <a:prstGeom prst="rect">
            <a:avLst/>
          </a:prstGeom>
          <a:solidFill>
            <a:srgbClr val="E8570A"/>
          </a:solidFill>
          <a:ln w="12700">
            <a:solidFill>
              <a:srgbClr val="E8570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1A1A1A">
              <a:alpha val="50000"/>
            </a:srgbClr>
          </a:solidFill>
          <a:ln w="12700">
            <a:solidFill>
              <a:srgbClr val="0A0A0A"/>
            </a:solidFill>
            <a:prstDash val="solid"/>
          </a:ln>
        </p:spPr>
      </p:sp>
      <p:sp>
        <p:nvSpPr>
          <p:cNvPr id="3" name="Shape 1"/>
          <p:cNvSpPr/>
          <p:nvPr/>
        </p:nvSpPr>
        <p:spPr>
          <a:xfrm>
            <a:off x="0" y="914400"/>
            <a:ext cx="9144000" cy="457200"/>
          </a:xfrm>
          <a:prstGeom prst="rect">
            <a:avLst/>
          </a:prstGeom>
          <a:solidFill>
            <a:srgbClr val="1A1A1A">
              <a:alpha val="50000"/>
            </a:srgbClr>
          </a:solidFill>
          <a:ln w="12700">
            <a:solidFill>
              <a:srgbClr val="0A0A0A"/>
            </a:solidFill>
            <a:prstDash val="solid"/>
          </a:ln>
        </p:spPr>
      </p:sp>
      <p:sp>
        <p:nvSpPr>
          <p:cNvPr id="4" name="Shape 2"/>
          <p:cNvSpPr/>
          <p:nvPr/>
        </p:nvSpPr>
        <p:spPr>
          <a:xfrm>
            <a:off x="0" y="1828800"/>
            <a:ext cx="9144000" cy="457200"/>
          </a:xfrm>
          <a:prstGeom prst="rect">
            <a:avLst/>
          </a:prstGeom>
          <a:solidFill>
            <a:srgbClr val="1A1A1A">
              <a:alpha val="50000"/>
            </a:srgbClr>
          </a:solidFill>
          <a:ln w="12700">
            <a:solidFill>
              <a:srgbClr val="0A0A0A"/>
            </a:solidFill>
            <a:prstDash val="solid"/>
          </a:ln>
        </p:spPr>
      </p:sp>
      <p:sp>
        <p:nvSpPr>
          <p:cNvPr id="5" name="Shape 3"/>
          <p:cNvSpPr/>
          <p:nvPr/>
        </p:nvSpPr>
        <p:spPr>
          <a:xfrm>
            <a:off x="0" y="2743200"/>
            <a:ext cx="9144000" cy="457200"/>
          </a:xfrm>
          <a:prstGeom prst="rect">
            <a:avLst/>
          </a:prstGeom>
          <a:solidFill>
            <a:srgbClr val="1A1A1A">
              <a:alpha val="50000"/>
            </a:srgbClr>
          </a:solidFill>
          <a:ln w="12700">
            <a:solidFill>
              <a:srgbClr val="0A0A0A"/>
            </a:solidFill>
            <a:prstDash val="solid"/>
          </a:ln>
        </p:spPr>
      </p:sp>
      <p:sp>
        <p:nvSpPr>
          <p:cNvPr id="6" name="Shape 4"/>
          <p:cNvSpPr/>
          <p:nvPr/>
        </p:nvSpPr>
        <p:spPr>
          <a:xfrm>
            <a:off x="0" y="3657600"/>
            <a:ext cx="9144000" cy="457200"/>
          </a:xfrm>
          <a:prstGeom prst="rect">
            <a:avLst/>
          </a:prstGeom>
          <a:solidFill>
            <a:srgbClr val="1A1A1A">
              <a:alpha val="50000"/>
            </a:srgbClr>
          </a:solidFill>
          <a:ln w="12700">
            <a:solidFill>
              <a:srgbClr val="0A0A0A"/>
            </a:solidFill>
            <a:prstDash val="solid"/>
          </a:ln>
        </p:spPr>
      </p:sp>
      <p:sp>
        <p:nvSpPr>
          <p:cNvPr id="7" name="Shape 5"/>
          <p:cNvSpPr/>
          <p:nvPr/>
        </p:nvSpPr>
        <p:spPr>
          <a:xfrm>
            <a:off x="0" y="4572000"/>
            <a:ext cx="9144000" cy="457200"/>
          </a:xfrm>
          <a:prstGeom prst="rect">
            <a:avLst/>
          </a:prstGeom>
          <a:solidFill>
            <a:srgbClr val="1A1A1A">
              <a:alpha val="50000"/>
            </a:srgbClr>
          </a:solidFill>
          <a:ln w="12700">
            <a:solidFill>
              <a:srgbClr val="0A0A0A"/>
            </a:solidFill>
            <a:prstDash val="solid"/>
          </a:ln>
        </p:spPr>
      </p:sp>
      <p:sp>
        <p:nvSpPr>
          <p:cNvPr id="8" name="Shape 6"/>
          <p:cNvSpPr/>
          <p:nvPr/>
        </p:nvSpPr>
        <p:spPr>
          <a:xfrm>
            <a:off x="0" y="0"/>
            <a:ext cx="9144000" cy="685800"/>
          </a:xfrm>
          <a:prstGeom prst="rect">
            <a:avLst/>
          </a:prstGeom>
          <a:solidFill>
            <a:srgbClr val="2D2D2D"/>
          </a:solidFill>
          <a:ln w="12700">
            <a:solidFill>
              <a:srgbClr val="E8570A"/>
            </a:solidFill>
            <a:prstDash val="solid"/>
          </a:ln>
        </p:spPr>
      </p:sp>
      <p:sp>
        <p:nvSpPr>
          <p:cNvPr id="9" name="Shape 7"/>
          <p:cNvSpPr/>
          <p:nvPr/>
        </p:nvSpPr>
        <p:spPr>
          <a:xfrm>
            <a:off x="0" y="0"/>
            <a:ext cx="9144000" cy="54864"/>
          </a:xfrm>
          <a:prstGeom prst="rect">
            <a:avLst/>
          </a:prstGeom>
          <a:solidFill>
            <a:srgbClr val="E8570A"/>
          </a:solidFill>
          <a:ln w="12700">
            <a:solidFill>
              <a:srgbClr val="E8570A"/>
            </a:solidFill>
            <a:prstDash val="solid"/>
          </a:ln>
        </p:spPr>
      </p:sp>
      <p:sp>
        <p:nvSpPr>
          <p:cNvPr id="10" name="Text 8"/>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KEY METRICS OVERVIEW</a:t>
            </a:r>
            <a:endParaRPr lang="en-US" sz="2200" dirty="0"/>
          </a:p>
        </p:txBody>
      </p:sp>
      <p:sp>
        <p:nvSpPr>
          <p:cNvPr id="11" name="Text 9"/>
          <p:cNvSpPr/>
          <p:nvPr/>
        </p:nvSpPr>
        <p:spPr>
          <a:xfrm>
            <a:off x="0" y="777240"/>
            <a:ext cx="9144000" cy="365760"/>
          </a:xfrm>
          <a:prstGeom prst="rect">
            <a:avLst/>
          </a:prstGeom>
          <a:noFill/>
          <a:ln/>
        </p:spPr>
        <p:txBody>
          <a:bodyPr wrap="square" rtlCol="0" anchor="ctr"/>
          <a:lstStyle/>
          <a:p>
            <a:pPr marL="0" indent="0" algn="ctr">
              <a:buNone/>
            </a:pPr>
            <a:r>
              <a:rPr lang="en-US" sz="1300" i="1" dirty="0">
                <a:solidFill>
                  <a:srgbClr val="AAAAAA"/>
                </a:solidFill>
                <a:latin typeface="Calibri" pitchFamily="34" charset="0"/>
                <a:ea typeface="Calibri" pitchFamily="34" charset="-122"/>
                <a:cs typeface="Calibri" pitchFamily="34" charset="-120"/>
              </a:rPr>
              <a:t>Smoking Population Statistics at a Glance</a:t>
            </a:r>
            <a:endParaRPr lang="en-US" sz="1300" dirty="0"/>
          </a:p>
        </p:txBody>
      </p:sp>
      <p:sp>
        <p:nvSpPr>
          <p:cNvPr id="12" name="Shape 10"/>
          <p:cNvSpPr/>
          <p:nvPr/>
        </p:nvSpPr>
        <p:spPr>
          <a:xfrm>
            <a:off x="274320" y="1234440"/>
            <a:ext cx="1965960" cy="2926080"/>
          </a:xfrm>
          <a:prstGeom prst="rect">
            <a:avLst/>
          </a:prstGeom>
          <a:solidFill>
            <a:srgbClr val="252525"/>
          </a:solidFill>
          <a:ln w="12700">
            <a:solidFill>
              <a:srgbClr val="3D3D3D"/>
            </a:solidFill>
            <a:prstDash val="solid"/>
          </a:ln>
          <a:effectLst>
            <a:outerShdw blurRad="152400" dist="38100" dir="8100000" algn="bl" rotWithShape="0">
              <a:srgbClr val="000000">
                <a:alpha val="40000"/>
              </a:srgbClr>
            </a:outerShdw>
          </a:effectLst>
        </p:spPr>
      </p:sp>
      <p:sp>
        <p:nvSpPr>
          <p:cNvPr id="13" name="Shape 11"/>
          <p:cNvSpPr/>
          <p:nvPr/>
        </p:nvSpPr>
        <p:spPr>
          <a:xfrm>
            <a:off x="274320" y="1234440"/>
            <a:ext cx="1965960" cy="64008"/>
          </a:xfrm>
          <a:prstGeom prst="rect">
            <a:avLst/>
          </a:prstGeom>
          <a:solidFill>
            <a:srgbClr val="E8570A"/>
          </a:solidFill>
          <a:ln w="12700">
            <a:solidFill>
              <a:srgbClr val="E8570A"/>
            </a:solidFill>
            <a:prstDash val="solid"/>
          </a:ln>
        </p:spPr>
      </p:sp>
      <p:pic>
        <p:nvPicPr>
          <p:cNvPr id="14" name="Image 0" descr="preencoded.png"/>
          <p:cNvPicPr>
            <a:picLocks noChangeAspect="1"/>
          </p:cNvPicPr>
          <p:nvPr/>
        </p:nvPicPr>
        <p:blipFill>
          <a:blip r:embed="rId3"/>
          <a:stretch>
            <a:fillRect/>
          </a:stretch>
        </p:blipFill>
        <p:spPr>
          <a:xfrm>
            <a:off x="1005840" y="1463040"/>
            <a:ext cx="502920" cy="502920"/>
          </a:xfrm>
          <a:prstGeom prst="rect">
            <a:avLst/>
          </a:prstGeom>
        </p:spPr>
      </p:pic>
      <p:sp>
        <p:nvSpPr>
          <p:cNvPr id="15" name="Text 12"/>
          <p:cNvSpPr/>
          <p:nvPr/>
        </p:nvSpPr>
        <p:spPr>
          <a:xfrm>
            <a:off x="320040" y="2103120"/>
            <a:ext cx="1874520" cy="1005840"/>
          </a:xfrm>
          <a:prstGeom prst="rect">
            <a:avLst/>
          </a:prstGeom>
          <a:noFill/>
          <a:ln/>
        </p:spPr>
        <p:txBody>
          <a:bodyPr wrap="square" rtlCol="0" anchor="ctr"/>
          <a:lstStyle/>
          <a:p>
            <a:pPr marL="0" indent="0" algn="ctr">
              <a:buNone/>
            </a:pPr>
            <a:r>
              <a:rPr lang="en-US" sz="4200" b="1" dirty="0">
                <a:solidFill>
                  <a:srgbClr val="E8570A"/>
                </a:solidFill>
                <a:latin typeface="Arial Black" pitchFamily="34" charset="0"/>
                <a:ea typeface="Arial Black" pitchFamily="34" charset="-122"/>
                <a:cs typeface="Arial Black" pitchFamily="34" charset="-120"/>
              </a:rPr>
              <a:t>9,640</a:t>
            </a:r>
            <a:endParaRPr lang="en-US" sz="4200" dirty="0"/>
          </a:p>
        </p:txBody>
      </p:sp>
      <p:sp>
        <p:nvSpPr>
          <p:cNvPr id="16" name="Text 13"/>
          <p:cNvSpPr/>
          <p:nvPr/>
        </p:nvSpPr>
        <p:spPr>
          <a:xfrm>
            <a:off x="320040" y="3063240"/>
            <a:ext cx="1874520" cy="457200"/>
          </a:xfrm>
          <a:prstGeom prst="rect">
            <a:avLst/>
          </a:prstGeom>
          <a:noFill/>
          <a:ln/>
        </p:spPr>
        <p:txBody>
          <a:bodyPr wrap="square"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TOTAL SMOKERS</a:t>
            </a:r>
            <a:endParaRPr lang="en-US" sz="1200" dirty="0"/>
          </a:p>
        </p:txBody>
      </p:sp>
      <p:sp>
        <p:nvSpPr>
          <p:cNvPr id="17" name="Text 14"/>
          <p:cNvSpPr/>
          <p:nvPr/>
        </p:nvSpPr>
        <p:spPr>
          <a:xfrm>
            <a:off x="320040" y="3520440"/>
            <a:ext cx="1874520" cy="411480"/>
          </a:xfrm>
          <a:prstGeom prst="rect">
            <a:avLst/>
          </a:prstGeom>
          <a:noFill/>
          <a:ln/>
        </p:spPr>
        <p:txBody>
          <a:bodyPr wrap="square" rtlCol="0" anchor="ctr"/>
          <a:lstStyle/>
          <a:p>
            <a:pPr marL="0" indent="0" algn="ctr">
              <a:buNone/>
            </a:pPr>
            <a:r>
              <a:rPr lang="en-US" sz="1000" i="1" dirty="0">
                <a:solidFill>
                  <a:srgbClr val="AAAAAA"/>
                </a:solidFill>
                <a:latin typeface="Calibri" pitchFamily="34" charset="0"/>
                <a:ea typeface="Calibri" pitchFamily="34" charset="-122"/>
                <a:cs typeface="Calibri" pitchFamily="34" charset="-120"/>
              </a:rPr>
              <a:t>Across all age groups</a:t>
            </a:r>
            <a:endParaRPr lang="en-US" sz="1000" dirty="0"/>
          </a:p>
        </p:txBody>
      </p:sp>
      <p:sp>
        <p:nvSpPr>
          <p:cNvPr id="18" name="Shape 15"/>
          <p:cNvSpPr/>
          <p:nvPr/>
        </p:nvSpPr>
        <p:spPr>
          <a:xfrm>
            <a:off x="2487168" y="1234440"/>
            <a:ext cx="1965960" cy="2926080"/>
          </a:xfrm>
          <a:prstGeom prst="rect">
            <a:avLst/>
          </a:prstGeom>
          <a:solidFill>
            <a:srgbClr val="252525"/>
          </a:solidFill>
          <a:ln w="12700">
            <a:solidFill>
              <a:srgbClr val="3D3D3D"/>
            </a:solidFill>
            <a:prstDash val="solid"/>
          </a:ln>
          <a:effectLst>
            <a:outerShdw blurRad="152400" dist="38100" dir="8100000" algn="bl" rotWithShape="0">
              <a:srgbClr val="000000">
                <a:alpha val="40000"/>
              </a:srgbClr>
            </a:outerShdw>
          </a:effectLst>
        </p:spPr>
      </p:sp>
      <p:sp>
        <p:nvSpPr>
          <p:cNvPr id="19" name="Shape 16"/>
          <p:cNvSpPr/>
          <p:nvPr/>
        </p:nvSpPr>
        <p:spPr>
          <a:xfrm>
            <a:off x="2487168" y="1234440"/>
            <a:ext cx="1965960" cy="64008"/>
          </a:xfrm>
          <a:prstGeom prst="rect">
            <a:avLst/>
          </a:prstGeom>
          <a:solidFill>
            <a:srgbClr val="FF7A2F"/>
          </a:solidFill>
          <a:ln w="12700">
            <a:solidFill>
              <a:srgbClr val="FF7A2F"/>
            </a:solidFill>
            <a:prstDash val="solid"/>
          </a:ln>
        </p:spPr>
      </p:sp>
      <p:pic>
        <p:nvPicPr>
          <p:cNvPr id="20" name="Image 1" descr="preencoded.png"/>
          <p:cNvPicPr>
            <a:picLocks noChangeAspect="1"/>
          </p:cNvPicPr>
          <p:nvPr/>
        </p:nvPicPr>
        <p:blipFill>
          <a:blip r:embed="rId4"/>
          <a:stretch>
            <a:fillRect/>
          </a:stretch>
        </p:blipFill>
        <p:spPr>
          <a:xfrm>
            <a:off x="3218688" y="1463040"/>
            <a:ext cx="502920" cy="502920"/>
          </a:xfrm>
          <a:prstGeom prst="rect">
            <a:avLst/>
          </a:prstGeom>
        </p:spPr>
      </p:pic>
      <p:sp>
        <p:nvSpPr>
          <p:cNvPr id="21" name="Text 17"/>
          <p:cNvSpPr/>
          <p:nvPr/>
        </p:nvSpPr>
        <p:spPr>
          <a:xfrm>
            <a:off x="2532888" y="2103120"/>
            <a:ext cx="1874520" cy="1005840"/>
          </a:xfrm>
          <a:prstGeom prst="rect">
            <a:avLst/>
          </a:prstGeom>
          <a:noFill/>
          <a:ln/>
        </p:spPr>
        <p:txBody>
          <a:bodyPr wrap="square" rtlCol="0" anchor="ctr"/>
          <a:lstStyle/>
          <a:p>
            <a:pPr marL="0" indent="0" algn="ctr">
              <a:buNone/>
            </a:pPr>
            <a:r>
              <a:rPr lang="en-US" sz="4200" b="1" dirty="0">
                <a:solidFill>
                  <a:srgbClr val="FF7A2F"/>
                </a:solidFill>
                <a:latin typeface="Arial Black" pitchFamily="34" charset="0"/>
                <a:ea typeface="Arial Black" pitchFamily="34" charset="-122"/>
                <a:cs typeface="Arial Black" pitchFamily="34" charset="-120"/>
              </a:rPr>
              <a:t>1,756</a:t>
            </a:r>
            <a:endParaRPr lang="en-US" sz="4200" dirty="0"/>
          </a:p>
        </p:txBody>
      </p:sp>
      <p:sp>
        <p:nvSpPr>
          <p:cNvPr id="22" name="Text 18"/>
          <p:cNvSpPr/>
          <p:nvPr/>
        </p:nvSpPr>
        <p:spPr>
          <a:xfrm>
            <a:off x="2532888" y="3063240"/>
            <a:ext cx="1874520" cy="457200"/>
          </a:xfrm>
          <a:prstGeom prst="rect">
            <a:avLst/>
          </a:prstGeom>
          <a:noFill/>
          <a:ln/>
        </p:spPr>
        <p:txBody>
          <a:bodyPr wrap="square"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YOUNG SMOKERS</a:t>
            </a:r>
            <a:endParaRPr lang="en-US" sz="1200" dirty="0"/>
          </a:p>
        </p:txBody>
      </p:sp>
      <p:sp>
        <p:nvSpPr>
          <p:cNvPr id="23" name="Text 19"/>
          <p:cNvSpPr/>
          <p:nvPr/>
        </p:nvSpPr>
        <p:spPr>
          <a:xfrm>
            <a:off x="2532888" y="3520440"/>
            <a:ext cx="1874520" cy="411480"/>
          </a:xfrm>
          <a:prstGeom prst="rect">
            <a:avLst/>
          </a:prstGeom>
          <a:noFill/>
          <a:ln/>
        </p:spPr>
        <p:txBody>
          <a:bodyPr wrap="square" rtlCol="0" anchor="ctr"/>
          <a:lstStyle/>
          <a:p>
            <a:pPr marL="0" indent="0" algn="ctr">
              <a:buNone/>
            </a:pPr>
            <a:r>
              <a:rPr lang="en-US" sz="1000" i="1" dirty="0">
                <a:solidFill>
                  <a:srgbClr val="AAAAAA"/>
                </a:solidFill>
                <a:latin typeface="Calibri" pitchFamily="34" charset="0"/>
                <a:ea typeface="Calibri" pitchFamily="34" charset="-122"/>
                <a:cs typeface="Calibri" pitchFamily="34" charset="-120"/>
              </a:rPr>
              <a:t>Under 25 years</a:t>
            </a:r>
            <a:endParaRPr lang="en-US" sz="1000" dirty="0"/>
          </a:p>
        </p:txBody>
      </p:sp>
      <p:sp>
        <p:nvSpPr>
          <p:cNvPr id="24" name="Shape 20"/>
          <p:cNvSpPr/>
          <p:nvPr/>
        </p:nvSpPr>
        <p:spPr>
          <a:xfrm>
            <a:off x="4700016" y="1234440"/>
            <a:ext cx="1965960" cy="2926080"/>
          </a:xfrm>
          <a:prstGeom prst="rect">
            <a:avLst/>
          </a:prstGeom>
          <a:solidFill>
            <a:srgbClr val="252525"/>
          </a:solidFill>
          <a:ln w="12700">
            <a:solidFill>
              <a:srgbClr val="3D3D3D"/>
            </a:solidFill>
            <a:prstDash val="solid"/>
          </a:ln>
          <a:effectLst>
            <a:outerShdw blurRad="152400" dist="38100" dir="8100000" algn="bl" rotWithShape="0">
              <a:srgbClr val="000000">
                <a:alpha val="40000"/>
              </a:srgbClr>
            </a:outerShdw>
          </a:effectLst>
        </p:spPr>
      </p:sp>
      <p:sp>
        <p:nvSpPr>
          <p:cNvPr id="25" name="Shape 21"/>
          <p:cNvSpPr/>
          <p:nvPr/>
        </p:nvSpPr>
        <p:spPr>
          <a:xfrm>
            <a:off x="4700016" y="1234440"/>
            <a:ext cx="1965960" cy="64008"/>
          </a:xfrm>
          <a:prstGeom prst="rect">
            <a:avLst/>
          </a:prstGeom>
          <a:solidFill>
            <a:srgbClr val="E8570A"/>
          </a:solidFill>
          <a:ln w="12700">
            <a:solidFill>
              <a:srgbClr val="E8570A"/>
            </a:solidFill>
            <a:prstDash val="solid"/>
          </a:ln>
        </p:spPr>
      </p:sp>
      <p:pic>
        <p:nvPicPr>
          <p:cNvPr id="26" name="Image 2" descr="preencoded.png"/>
          <p:cNvPicPr>
            <a:picLocks noChangeAspect="1"/>
          </p:cNvPicPr>
          <p:nvPr/>
        </p:nvPicPr>
        <p:blipFill>
          <a:blip r:embed="rId5"/>
          <a:stretch>
            <a:fillRect/>
          </a:stretch>
        </p:blipFill>
        <p:spPr>
          <a:xfrm>
            <a:off x="5431536" y="1463040"/>
            <a:ext cx="502920" cy="502920"/>
          </a:xfrm>
          <a:prstGeom prst="rect">
            <a:avLst/>
          </a:prstGeom>
        </p:spPr>
      </p:pic>
      <p:sp>
        <p:nvSpPr>
          <p:cNvPr id="27" name="Text 22"/>
          <p:cNvSpPr/>
          <p:nvPr/>
        </p:nvSpPr>
        <p:spPr>
          <a:xfrm>
            <a:off x="4745736" y="2103120"/>
            <a:ext cx="1874520" cy="1005840"/>
          </a:xfrm>
          <a:prstGeom prst="rect">
            <a:avLst/>
          </a:prstGeom>
          <a:noFill/>
          <a:ln/>
        </p:spPr>
        <p:txBody>
          <a:bodyPr wrap="square" rtlCol="0" anchor="ctr"/>
          <a:lstStyle/>
          <a:p>
            <a:pPr marL="0" indent="0" algn="ctr">
              <a:buNone/>
            </a:pPr>
            <a:r>
              <a:rPr lang="en-US" sz="4200" b="1" dirty="0">
                <a:solidFill>
                  <a:srgbClr val="E8570A"/>
                </a:solidFill>
                <a:latin typeface="Arial Black" pitchFamily="34" charset="0"/>
                <a:ea typeface="Arial Black" pitchFamily="34" charset="-122"/>
                <a:cs typeface="Arial Black" pitchFamily="34" charset="-120"/>
              </a:rPr>
              <a:t>3,642</a:t>
            </a:r>
            <a:endParaRPr lang="en-US" sz="4200" dirty="0"/>
          </a:p>
        </p:txBody>
      </p:sp>
      <p:sp>
        <p:nvSpPr>
          <p:cNvPr id="28" name="Text 23"/>
          <p:cNvSpPr/>
          <p:nvPr/>
        </p:nvSpPr>
        <p:spPr>
          <a:xfrm>
            <a:off x="4745736" y="3063240"/>
            <a:ext cx="1874520" cy="457200"/>
          </a:xfrm>
          <a:prstGeom prst="rect">
            <a:avLst/>
          </a:prstGeom>
          <a:noFill/>
          <a:ln/>
        </p:spPr>
        <p:txBody>
          <a:bodyPr wrap="square"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MIDDLE AGE</a:t>
            </a:r>
            <a:endParaRPr lang="en-US" sz="1200" dirty="0"/>
          </a:p>
        </p:txBody>
      </p:sp>
      <p:sp>
        <p:nvSpPr>
          <p:cNvPr id="29" name="Text 24"/>
          <p:cNvSpPr/>
          <p:nvPr/>
        </p:nvSpPr>
        <p:spPr>
          <a:xfrm>
            <a:off x="4745736" y="3520440"/>
            <a:ext cx="1874520" cy="411480"/>
          </a:xfrm>
          <a:prstGeom prst="rect">
            <a:avLst/>
          </a:prstGeom>
          <a:noFill/>
          <a:ln/>
        </p:spPr>
        <p:txBody>
          <a:bodyPr wrap="square" rtlCol="0" anchor="ctr"/>
          <a:lstStyle/>
          <a:p>
            <a:pPr marL="0" indent="0" algn="ctr">
              <a:buNone/>
            </a:pPr>
            <a:r>
              <a:rPr lang="en-US" sz="1000" i="1" dirty="0">
                <a:solidFill>
                  <a:srgbClr val="AAAAAA"/>
                </a:solidFill>
                <a:latin typeface="Calibri" pitchFamily="34" charset="0"/>
                <a:ea typeface="Calibri" pitchFamily="34" charset="-122"/>
                <a:cs typeface="Calibri" pitchFamily="34" charset="-120"/>
              </a:rPr>
              <a:t>25 – 54 years</a:t>
            </a:r>
            <a:endParaRPr lang="en-US" sz="1000" dirty="0"/>
          </a:p>
        </p:txBody>
      </p:sp>
      <p:sp>
        <p:nvSpPr>
          <p:cNvPr id="30" name="Shape 25"/>
          <p:cNvSpPr/>
          <p:nvPr/>
        </p:nvSpPr>
        <p:spPr>
          <a:xfrm>
            <a:off x="6912864" y="1234440"/>
            <a:ext cx="1965960" cy="2926080"/>
          </a:xfrm>
          <a:prstGeom prst="rect">
            <a:avLst/>
          </a:prstGeom>
          <a:solidFill>
            <a:srgbClr val="252525"/>
          </a:solidFill>
          <a:ln w="12700">
            <a:solidFill>
              <a:srgbClr val="3D3D3D"/>
            </a:solidFill>
            <a:prstDash val="solid"/>
          </a:ln>
          <a:effectLst>
            <a:outerShdw blurRad="152400" dist="38100" dir="8100000" algn="bl" rotWithShape="0">
              <a:srgbClr val="000000">
                <a:alpha val="40000"/>
              </a:srgbClr>
            </a:outerShdw>
          </a:effectLst>
        </p:spPr>
      </p:sp>
      <p:sp>
        <p:nvSpPr>
          <p:cNvPr id="31" name="Shape 26"/>
          <p:cNvSpPr/>
          <p:nvPr/>
        </p:nvSpPr>
        <p:spPr>
          <a:xfrm>
            <a:off x="6912864" y="1234440"/>
            <a:ext cx="1965960" cy="64008"/>
          </a:xfrm>
          <a:prstGeom prst="rect">
            <a:avLst/>
          </a:prstGeom>
          <a:solidFill>
            <a:srgbClr val="FF7A2F"/>
          </a:solidFill>
          <a:ln w="12700">
            <a:solidFill>
              <a:srgbClr val="FF7A2F"/>
            </a:solidFill>
            <a:prstDash val="solid"/>
          </a:ln>
        </p:spPr>
      </p:sp>
      <p:pic>
        <p:nvPicPr>
          <p:cNvPr id="32" name="Image 3" descr="preencoded.png"/>
          <p:cNvPicPr>
            <a:picLocks noChangeAspect="1"/>
          </p:cNvPicPr>
          <p:nvPr/>
        </p:nvPicPr>
        <p:blipFill>
          <a:blip r:embed="rId6"/>
          <a:stretch>
            <a:fillRect/>
          </a:stretch>
        </p:blipFill>
        <p:spPr>
          <a:xfrm>
            <a:off x="7644384" y="1463040"/>
            <a:ext cx="502920" cy="502920"/>
          </a:xfrm>
          <a:prstGeom prst="rect">
            <a:avLst/>
          </a:prstGeom>
        </p:spPr>
      </p:pic>
      <p:sp>
        <p:nvSpPr>
          <p:cNvPr id="33" name="Text 27"/>
          <p:cNvSpPr/>
          <p:nvPr/>
        </p:nvSpPr>
        <p:spPr>
          <a:xfrm>
            <a:off x="6958584" y="2103120"/>
            <a:ext cx="1874520" cy="1005840"/>
          </a:xfrm>
          <a:prstGeom prst="rect">
            <a:avLst/>
          </a:prstGeom>
          <a:noFill/>
          <a:ln/>
        </p:spPr>
        <p:txBody>
          <a:bodyPr wrap="square" rtlCol="0" anchor="ctr"/>
          <a:lstStyle/>
          <a:p>
            <a:pPr marL="0" indent="0" algn="ctr">
              <a:buNone/>
            </a:pPr>
            <a:r>
              <a:rPr lang="en-US" sz="4200" b="1" dirty="0">
                <a:solidFill>
                  <a:srgbClr val="FF7A2F"/>
                </a:solidFill>
                <a:latin typeface="Arial Black" pitchFamily="34" charset="0"/>
                <a:ea typeface="Arial Black" pitchFamily="34" charset="-122"/>
                <a:cs typeface="Arial Black" pitchFamily="34" charset="-120"/>
              </a:rPr>
              <a:t>2,678</a:t>
            </a:r>
            <a:endParaRPr lang="en-US" sz="4200" dirty="0"/>
          </a:p>
        </p:txBody>
      </p:sp>
      <p:sp>
        <p:nvSpPr>
          <p:cNvPr id="34" name="Text 28"/>
          <p:cNvSpPr/>
          <p:nvPr/>
        </p:nvSpPr>
        <p:spPr>
          <a:xfrm>
            <a:off x="6958584" y="3063240"/>
            <a:ext cx="1874520" cy="457200"/>
          </a:xfrm>
          <a:prstGeom prst="rect">
            <a:avLst/>
          </a:prstGeom>
          <a:noFill/>
          <a:ln/>
        </p:spPr>
        <p:txBody>
          <a:bodyPr wrap="square" rtlCol="0" anchor="ctr"/>
          <a:lstStyle/>
          <a:p>
            <a:pPr marL="0" indent="0" algn="ctr">
              <a:buNone/>
            </a:pPr>
            <a:r>
              <a:rPr lang="en-US" sz="1200" b="1" kern="0" spc="100" dirty="0">
                <a:solidFill>
                  <a:srgbClr val="FFFFFF"/>
                </a:solidFill>
                <a:latin typeface="Arial" pitchFamily="34" charset="0"/>
                <a:ea typeface="Arial" pitchFamily="34" charset="-122"/>
                <a:cs typeface="Arial" pitchFamily="34" charset="-120"/>
              </a:rPr>
              <a:t>OLDER SMOKERS</a:t>
            </a:r>
            <a:endParaRPr lang="en-US" sz="1200" dirty="0"/>
          </a:p>
        </p:txBody>
      </p:sp>
      <p:sp>
        <p:nvSpPr>
          <p:cNvPr id="35" name="Text 29"/>
          <p:cNvSpPr/>
          <p:nvPr/>
        </p:nvSpPr>
        <p:spPr>
          <a:xfrm>
            <a:off x="6958584" y="3520440"/>
            <a:ext cx="1874520" cy="411480"/>
          </a:xfrm>
          <a:prstGeom prst="rect">
            <a:avLst/>
          </a:prstGeom>
          <a:noFill/>
          <a:ln/>
        </p:spPr>
        <p:txBody>
          <a:bodyPr wrap="square" rtlCol="0" anchor="ctr"/>
          <a:lstStyle/>
          <a:p>
            <a:pPr marL="0" indent="0" algn="ctr">
              <a:buNone/>
            </a:pPr>
            <a:r>
              <a:rPr lang="en-US" sz="1000" i="1" dirty="0">
                <a:solidFill>
                  <a:srgbClr val="AAAAAA"/>
                </a:solidFill>
                <a:latin typeface="Calibri" pitchFamily="34" charset="0"/>
                <a:ea typeface="Calibri" pitchFamily="34" charset="-122"/>
                <a:cs typeface="Calibri" pitchFamily="34" charset="-120"/>
              </a:rPr>
              <a:t>55+ years</a:t>
            </a:r>
            <a:endParaRPr lang="en-US" sz="1000" dirty="0"/>
          </a:p>
        </p:txBody>
      </p:sp>
      <p:sp>
        <p:nvSpPr>
          <p:cNvPr id="36" name="Shape 30"/>
          <p:cNvSpPr/>
          <p:nvPr/>
        </p:nvSpPr>
        <p:spPr>
          <a:xfrm>
            <a:off x="0" y="4846320"/>
            <a:ext cx="9144000" cy="297180"/>
          </a:xfrm>
          <a:prstGeom prst="rect">
            <a:avLst/>
          </a:prstGeom>
          <a:solidFill>
            <a:srgbClr val="2D2D2D"/>
          </a:solidFill>
          <a:ln w="12700">
            <a:solidFill>
              <a:srgbClr val="3D3D3D"/>
            </a:solidFill>
            <a:prstDash val="solid"/>
          </a:ln>
        </p:spPr>
      </p:sp>
      <p:sp>
        <p:nvSpPr>
          <p:cNvPr id="37" name="Text 31"/>
          <p:cNvSpPr/>
          <p:nvPr/>
        </p:nvSpPr>
        <p:spPr>
          <a:xfrm>
            <a:off x="0" y="4846320"/>
            <a:ext cx="9144000" cy="297180"/>
          </a:xfrm>
          <a:prstGeom prst="rect">
            <a:avLst/>
          </a:prstGeom>
          <a:noFill/>
          <a:ln/>
        </p:spPr>
        <p:txBody>
          <a:bodyPr wrap="square" rtlCol="0" anchor="ctr"/>
          <a:lstStyle/>
          <a:p>
            <a:pPr marL="0" indent="0" algn="ctr">
              <a:buNone/>
            </a:pPr>
            <a:r>
              <a:rPr lang="en-US" sz="900" dirty="0">
                <a:solidFill>
                  <a:srgbClr val="AAAAAA"/>
                </a:solidFill>
                <a:latin typeface="Calibri" pitchFamily="34" charset="0"/>
                <a:ea typeface="Calibri" pitchFamily="34" charset="-122"/>
                <a:cs typeface="Calibri" pitchFamily="34" charset="-120"/>
              </a:rPr>
              <a:t>Data Source: ICD10 Diagnosis Registry  |  Survey Period: 2000–2015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0A0A0A"/>
            </a:solidFill>
            <a:prstDash val="solid"/>
          </a:ln>
        </p:spPr>
      </p:sp>
      <p:sp>
        <p:nvSpPr>
          <p:cNvPr id="3" name="Shape 1"/>
          <p:cNvSpPr/>
          <p:nvPr/>
        </p:nvSpPr>
        <p:spPr>
          <a:xfrm>
            <a:off x="0" y="0"/>
            <a:ext cx="9144000" cy="54864"/>
          </a:xfrm>
          <a:prstGeom prst="rect">
            <a:avLst/>
          </a:prstGeom>
          <a:solidFill>
            <a:srgbClr val="E8570A"/>
          </a:solidFill>
          <a:ln w="12700">
            <a:solidFill>
              <a:srgbClr val="E8570A"/>
            </a:solidFill>
            <a:prstDash val="solid"/>
          </a:ln>
        </p:spPr>
      </p:sp>
      <p:sp>
        <p:nvSpPr>
          <p:cNvPr id="4" name="Text 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DEMOGRAPHICS &amp; FILTER BREAKDOWN</a:t>
            </a:r>
            <a:endParaRPr lang="en-US" sz="2200" dirty="0"/>
          </a:p>
        </p:txBody>
      </p:sp>
      <p:sp>
        <p:nvSpPr>
          <p:cNvPr id="5" name="Shape 3"/>
          <p:cNvSpPr/>
          <p:nvPr/>
        </p:nvSpPr>
        <p:spPr>
          <a:xfrm>
            <a:off x="274320" y="822960"/>
            <a:ext cx="4023360" cy="3931920"/>
          </a:xfrm>
          <a:prstGeom prst="rect">
            <a:avLst/>
          </a:prstGeom>
          <a:solidFill>
            <a:srgbClr val="2D2D2D">
              <a:alpha val="85000"/>
            </a:srgbClr>
          </a:solidFill>
          <a:ln w="6350">
            <a:solidFill>
              <a:srgbClr val="3D3D3D"/>
            </a:solidFill>
            <a:prstDash val="solid"/>
          </a:ln>
        </p:spPr>
      </p:sp>
      <p:sp>
        <p:nvSpPr>
          <p:cNvPr id="6" name="Shape 4"/>
          <p:cNvSpPr/>
          <p:nvPr/>
        </p:nvSpPr>
        <p:spPr>
          <a:xfrm>
            <a:off x="274320" y="822960"/>
            <a:ext cx="54864" cy="3931920"/>
          </a:xfrm>
          <a:prstGeom prst="rect">
            <a:avLst/>
          </a:prstGeom>
          <a:solidFill>
            <a:srgbClr val="E8570A"/>
          </a:solidFill>
          <a:ln w="12700">
            <a:solidFill>
              <a:srgbClr val="E8570A"/>
            </a:solidFill>
            <a:prstDash val="solid"/>
          </a:ln>
        </p:spPr>
      </p:sp>
      <p:sp>
        <p:nvSpPr>
          <p:cNvPr id="7" name="Text 5"/>
          <p:cNvSpPr/>
          <p:nvPr/>
        </p:nvSpPr>
        <p:spPr>
          <a:xfrm>
            <a:off x="457200" y="914400"/>
            <a:ext cx="3657600" cy="411480"/>
          </a:xfrm>
          <a:prstGeom prst="rect">
            <a:avLst/>
          </a:prstGeom>
          <a:noFill/>
          <a:ln/>
        </p:spPr>
        <p:txBody>
          <a:bodyPr wrap="square" rtlCol="0" anchor="ctr"/>
          <a:lstStyle/>
          <a:p>
            <a:pPr marL="0" indent="0">
              <a:buNone/>
            </a:pPr>
            <a:r>
              <a:rPr lang="en-US" sz="1400" b="1" kern="0" spc="200" dirty="0">
                <a:solidFill>
                  <a:srgbClr val="E8570A"/>
                </a:solidFill>
                <a:latin typeface="Arial" pitchFamily="34" charset="0"/>
                <a:ea typeface="Arial" pitchFamily="34" charset="-122"/>
                <a:cs typeface="Arial" pitchFamily="34" charset="-120"/>
              </a:rPr>
              <a:t>GENDER DISTRIBUTION</a:t>
            </a:r>
            <a:endParaRPr lang="en-US" sz="1400" dirty="0"/>
          </a:p>
        </p:txBody>
      </p:sp>
      <p:pic>
        <p:nvPicPr>
          <p:cNvPr id="8" name="Image 0" descr="preencoded.png"/>
          <p:cNvPicPr>
            <a:picLocks noChangeAspect="1"/>
          </p:cNvPicPr>
          <p:nvPr/>
        </p:nvPicPr>
        <p:blipFill>
          <a:blip r:embed="rId3"/>
          <a:stretch>
            <a:fillRect/>
          </a:stretch>
        </p:blipFill>
        <p:spPr>
          <a:xfrm>
            <a:off x="594360" y="1463040"/>
            <a:ext cx="411480" cy="502920"/>
          </a:xfrm>
          <a:prstGeom prst="rect">
            <a:avLst/>
          </a:prstGeom>
        </p:spPr>
      </p:pic>
      <p:sp>
        <p:nvSpPr>
          <p:cNvPr id="9" name="Text 6"/>
          <p:cNvSpPr/>
          <p:nvPr/>
        </p:nvSpPr>
        <p:spPr>
          <a:xfrm>
            <a:off x="1097280" y="1536192"/>
            <a:ext cx="73152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MALE</a:t>
            </a:r>
            <a:endParaRPr lang="en-US" sz="1300" dirty="0"/>
          </a:p>
        </p:txBody>
      </p:sp>
      <p:sp>
        <p:nvSpPr>
          <p:cNvPr id="10" name="Text 7"/>
          <p:cNvSpPr/>
          <p:nvPr/>
        </p:nvSpPr>
        <p:spPr>
          <a:xfrm>
            <a:off x="3017520" y="1536192"/>
            <a:ext cx="1097280" cy="320040"/>
          </a:xfrm>
          <a:prstGeom prst="rect">
            <a:avLst/>
          </a:prstGeom>
          <a:noFill/>
          <a:ln/>
        </p:spPr>
        <p:txBody>
          <a:bodyPr wrap="square" rtlCol="0" anchor="ctr"/>
          <a:lstStyle/>
          <a:p>
            <a:pPr marL="0" indent="0" algn="r">
              <a:buNone/>
            </a:pPr>
            <a:r>
              <a:rPr lang="en-US" sz="1300" b="1" dirty="0">
                <a:solidFill>
                  <a:srgbClr val="E8570A"/>
                </a:solidFill>
                <a:latin typeface="Arial" pitchFamily="34" charset="0"/>
                <a:ea typeface="Arial" pitchFamily="34" charset="-122"/>
                <a:cs typeface="Arial" pitchFamily="34" charset="-120"/>
              </a:rPr>
              <a:t>53.6%</a:t>
            </a:r>
            <a:endParaRPr lang="en-US" sz="1300" dirty="0"/>
          </a:p>
        </p:txBody>
      </p:sp>
      <p:sp>
        <p:nvSpPr>
          <p:cNvPr id="11" name="Shape 8"/>
          <p:cNvSpPr/>
          <p:nvPr/>
        </p:nvSpPr>
        <p:spPr>
          <a:xfrm>
            <a:off x="594360" y="1920240"/>
            <a:ext cx="3520440" cy="201168"/>
          </a:xfrm>
          <a:prstGeom prst="rect">
            <a:avLst/>
          </a:prstGeom>
          <a:solidFill>
            <a:srgbClr val="3D3D3D"/>
          </a:solidFill>
          <a:ln w="12700">
            <a:solidFill>
              <a:srgbClr val="3D3D3D"/>
            </a:solidFill>
            <a:prstDash val="solid"/>
          </a:ln>
        </p:spPr>
      </p:sp>
      <p:sp>
        <p:nvSpPr>
          <p:cNvPr id="12" name="Shape 9"/>
          <p:cNvSpPr/>
          <p:nvPr/>
        </p:nvSpPr>
        <p:spPr>
          <a:xfrm>
            <a:off x="594360" y="1920240"/>
            <a:ext cx="1886956" cy="201168"/>
          </a:xfrm>
          <a:prstGeom prst="rect">
            <a:avLst/>
          </a:prstGeom>
          <a:solidFill>
            <a:srgbClr val="E8570A"/>
          </a:solidFill>
          <a:ln w="12700">
            <a:solidFill>
              <a:srgbClr val="E8570A"/>
            </a:solidFill>
            <a:prstDash val="solid"/>
          </a:ln>
        </p:spPr>
      </p:sp>
      <p:pic>
        <p:nvPicPr>
          <p:cNvPr id="13" name="Image 1" descr="preencoded.png"/>
          <p:cNvPicPr>
            <a:picLocks noChangeAspect="1"/>
          </p:cNvPicPr>
          <p:nvPr/>
        </p:nvPicPr>
        <p:blipFill>
          <a:blip r:embed="rId4"/>
          <a:stretch>
            <a:fillRect/>
          </a:stretch>
        </p:blipFill>
        <p:spPr>
          <a:xfrm>
            <a:off x="594360" y="2331720"/>
            <a:ext cx="411480" cy="502920"/>
          </a:xfrm>
          <a:prstGeom prst="rect">
            <a:avLst/>
          </a:prstGeom>
        </p:spPr>
      </p:pic>
      <p:sp>
        <p:nvSpPr>
          <p:cNvPr id="14" name="Text 10"/>
          <p:cNvSpPr/>
          <p:nvPr/>
        </p:nvSpPr>
        <p:spPr>
          <a:xfrm>
            <a:off x="1097280" y="2404872"/>
            <a:ext cx="109728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FEMALE</a:t>
            </a:r>
            <a:endParaRPr lang="en-US" sz="1300" dirty="0"/>
          </a:p>
        </p:txBody>
      </p:sp>
      <p:sp>
        <p:nvSpPr>
          <p:cNvPr id="15" name="Text 11"/>
          <p:cNvSpPr/>
          <p:nvPr/>
        </p:nvSpPr>
        <p:spPr>
          <a:xfrm>
            <a:off x="3017520" y="2404872"/>
            <a:ext cx="1097280" cy="320040"/>
          </a:xfrm>
          <a:prstGeom prst="rect">
            <a:avLst/>
          </a:prstGeom>
          <a:noFill/>
          <a:ln/>
        </p:spPr>
        <p:txBody>
          <a:bodyPr wrap="square" rtlCol="0" anchor="ctr"/>
          <a:lstStyle/>
          <a:p>
            <a:pPr marL="0" indent="0" algn="r">
              <a:buNone/>
            </a:pPr>
            <a:r>
              <a:rPr lang="en-US" sz="1300" b="1" dirty="0">
                <a:solidFill>
                  <a:srgbClr val="FF7A2F"/>
                </a:solidFill>
                <a:latin typeface="Arial" pitchFamily="34" charset="0"/>
                <a:ea typeface="Arial" pitchFamily="34" charset="-122"/>
                <a:cs typeface="Arial" pitchFamily="34" charset="-120"/>
              </a:rPr>
              <a:t>46.4%</a:t>
            </a:r>
            <a:endParaRPr lang="en-US" sz="1300" dirty="0"/>
          </a:p>
        </p:txBody>
      </p:sp>
      <p:sp>
        <p:nvSpPr>
          <p:cNvPr id="16" name="Shape 12"/>
          <p:cNvSpPr/>
          <p:nvPr/>
        </p:nvSpPr>
        <p:spPr>
          <a:xfrm>
            <a:off x="594360" y="2788920"/>
            <a:ext cx="3520440" cy="201168"/>
          </a:xfrm>
          <a:prstGeom prst="rect">
            <a:avLst/>
          </a:prstGeom>
          <a:solidFill>
            <a:srgbClr val="3D3D3D"/>
          </a:solidFill>
          <a:ln w="12700">
            <a:solidFill>
              <a:srgbClr val="3D3D3D"/>
            </a:solidFill>
            <a:prstDash val="solid"/>
          </a:ln>
        </p:spPr>
      </p:sp>
      <p:sp>
        <p:nvSpPr>
          <p:cNvPr id="17" name="Shape 13"/>
          <p:cNvSpPr/>
          <p:nvPr/>
        </p:nvSpPr>
        <p:spPr>
          <a:xfrm>
            <a:off x="594360" y="2788920"/>
            <a:ext cx="1633484" cy="201168"/>
          </a:xfrm>
          <a:prstGeom prst="rect">
            <a:avLst/>
          </a:prstGeom>
          <a:solidFill>
            <a:srgbClr val="FF7A2F"/>
          </a:solidFill>
          <a:ln w="12700">
            <a:solidFill>
              <a:srgbClr val="FF7A2F"/>
            </a:solidFill>
            <a:prstDash val="solid"/>
          </a:ln>
        </p:spPr>
      </p:sp>
      <p:sp>
        <p:nvSpPr>
          <p:cNvPr id="18" name="Text 14"/>
          <p:cNvSpPr/>
          <p:nvPr/>
        </p:nvSpPr>
        <p:spPr>
          <a:xfrm>
            <a:off x="457200" y="3200400"/>
            <a:ext cx="3657600" cy="320040"/>
          </a:xfrm>
          <a:prstGeom prst="rect">
            <a:avLst/>
          </a:prstGeom>
          <a:noFill/>
          <a:ln/>
        </p:spPr>
        <p:txBody>
          <a:bodyPr wrap="square" rtlCol="0" anchor="ctr"/>
          <a:lstStyle/>
          <a:p>
            <a:pPr marL="0" indent="0">
              <a:buNone/>
            </a:pPr>
            <a:r>
              <a:rPr lang="en-US" sz="1200" b="1" kern="0" spc="100" dirty="0">
                <a:solidFill>
                  <a:srgbClr val="AAAAAA"/>
                </a:solidFill>
                <a:latin typeface="Arial" pitchFamily="34" charset="0"/>
                <a:ea typeface="Arial" pitchFamily="34" charset="-122"/>
                <a:cs typeface="Arial" pitchFamily="34" charset="-120"/>
              </a:rPr>
              <a:t>AGE GROUP BREAKDOWN</a:t>
            </a:r>
            <a:endParaRPr lang="en-US" sz="1200" dirty="0"/>
          </a:p>
        </p:txBody>
      </p:sp>
      <p:sp>
        <p:nvSpPr>
          <p:cNvPr id="19" name="Text 15"/>
          <p:cNvSpPr/>
          <p:nvPr/>
        </p:nvSpPr>
        <p:spPr>
          <a:xfrm>
            <a:off x="502920" y="3566160"/>
            <a:ext cx="1828800" cy="274320"/>
          </a:xfrm>
          <a:prstGeom prst="rect">
            <a:avLst/>
          </a:prstGeom>
          <a:noFill/>
          <a:ln/>
        </p:spPr>
        <p:txBody>
          <a:bodyPr wrap="square" rtlCol="0" anchor="ctr"/>
          <a:lstStyle/>
          <a:p>
            <a:pPr marL="0" indent="0">
              <a:buNone/>
            </a:pPr>
            <a:r>
              <a:rPr lang="en-US" sz="1100" dirty="0">
                <a:solidFill>
                  <a:srgbClr val="E8E8E8"/>
                </a:solidFill>
                <a:latin typeface="Calibri" pitchFamily="34" charset="0"/>
                <a:ea typeface="Calibri" pitchFamily="34" charset="-122"/>
                <a:cs typeface="Calibri" pitchFamily="34" charset="-120"/>
              </a:rPr>
              <a:t>Young (&lt; 25)</a:t>
            </a:r>
            <a:endParaRPr lang="en-US" sz="1100" dirty="0"/>
          </a:p>
        </p:txBody>
      </p:sp>
      <p:sp>
        <p:nvSpPr>
          <p:cNvPr id="20" name="Shape 16"/>
          <p:cNvSpPr/>
          <p:nvPr/>
        </p:nvSpPr>
        <p:spPr>
          <a:xfrm>
            <a:off x="502920" y="3840480"/>
            <a:ext cx="3520440" cy="137160"/>
          </a:xfrm>
          <a:prstGeom prst="rect">
            <a:avLst/>
          </a:prstGeom>
          <a:solidFill>
            <a:srgbClr val="3D3D3D"/>
          </a:solidFill>
          <a:ln w="12700">
            <a:solidFill>
              <a:srgbClr val="3D3D3D"/>
            </a:solidFill>
            <a:prstDash val="solid"/>
          </a:ln>
        </p:spPr>
      </p:sp>
      <p:sp>
        <p:nvSpPr>
          <p:cNvPr id="21" name="Shape 17"/>
          <p:cNvSpPr/>
          <p:nvPr/>
        </p:nvSpPr>
        <p:spPr>
          <a:xfrm>
            <a:off x="502920" y="3840480"/>
            <a:ext cx="640720" cy="137160"/>
          </a:xfrm>
          <a:prstGeom prst="rect">
            <a:avLst/>
          </a:prstGeom>
          <a:solidFill>
            <a:srgbClr val="E8570A"/>
          </a:solidFill>
          <a:ln w="12700">
            <a:solidFill>
              <a:srgbClr val="E8570A"/>
            </a:solidFill>
            <a:prstDash val="solid"/>
          </a:ln>
        </p:spPr>
      </p:sp>
      <p:sp>
        <p:nvSpPr>
          <p:cNvPr id="22" name="Text 18"/>
          <p:cNvSpPr/>
          <p:nvPr/>
        </p:nvSpPr>
        <p:spPr>
          <a:xfrm>
            <a:off x="3749040" y="3794760"/>
            <a:ext cx="457200" cy="228600"/>
          </a:xfrm>
          <a:prstGeom prst="rect">
            <a:avLst/>
          </a:prstGeom>
          <a:noFill/>
          <a:ln/>
        </p:spPr>
        <p:txBody>
          <a:bodyPr wrap="square" rtlCol="0" anchor="ctr"/>
          <a:lstStyle/>
          <a:p>
            <a:pPr marL="0" indent="0">
              <a:buNone/>
            </a:pPr>
            <a:r>
              <a:rPr lang="en-US" sz="1000" b="1" dirty="0">
                <a:solidFill>
                  <a:srgbClr val="E8570A"/>
                </a:solidFill>
                <a:latin typeface="Calibri" pitchFamily="34" charset="0"/>
                <a:ea typeface="Calibri" pitchFamily="34" charset="-122"/>
                <a:cs typeface="Calibri" pitchFamily="34" charset="-120"/>
              </a:rPr>
              <a:t>18.2%</a:t>
            </a:r>
            <a:endParaRPr lang="en-US" sz="1000" dirty="0"/>
          </a:p>
        </p:txBody>
      </p:sp>
      <p:sp>
        <p:nvSpPr>
          <p:cNvPr id="23" name="Text 19"/>
          <p:cNvSpPr/>
          <p:nvPr/>
        </p:nvSpPr>
        <p:spPr>
          <a:xfrm>
            <a:off x="502920" y="3977640"/>
            <a:ext cx="1828800" cy="274320"/>
          </a:xfrm>
          <a:prstGeom prst="rect">
            <a:avLst/>
          </a:prstGeom>
          <a:noFill/>
          <a:ln/>
        </p:spPr>
        <p:txBody>
          <a:bodyPr wrap="square" rtlCol="0" anchor="ctr"/>
          <a:lstStyle/>
          <a:p>
            <a:pPr marL="0" indent="0">
              <a:buNone/>
            </a:pPr>
            <a:r>
              <a:rPr lang="en-US" sz="1100" dirty="0">
                <a:solidFill>
                  <a:srgbClr val="E8E8E8"/>
                </a:solidFill>
                <a:latin typeface="Calibri" pitchFamily="34" charset="0"/>
                <a:ea typeface="Calibri" pitchFamily="34" charset="-122"/>
                <a:cs typeface="Calibri" pitchFamily="34" charset="-120"/>
              </a:rPr>
              <a:t>Middle (25–54)</a:t>
            </a:r>
            <a:endParaRPr lang="en-US" sz="1100" dirty="0"/>
          </a:p>
        </p:txBody>
      </p:sp>
      <p:sp>
        <p:nvSpPr>
          <p:cNvPr id="24" name="Shape 20"/>
          <p:cNvSpPr/>
          <p:nvPr/>
        </p:nvSpPr>
        <p:spPr>
          <a:xfrm>
            <a:off x="502920" y="4251960"/>
            <a:ext cx="3520440" cy="137160"/>
          </a:xfrm>
          <a:prstGeom prst="rect">
            <a:avLst/>
          </a:prstGeom>
          <a:solidFill>
            <a:srgbClr val="3D3D3D"/>
          </a:solidFill>
          <a:ln w="12700">
            <a:solidFill>
              <a:srgbClr val="3D3D3D"/>
            </a:solidFill>
            <a:prstDash val="solid"/>
          </a:ln>
        </p:spPr>
      </p:sp>
      <p:sp>
        <p:nvSpPr>
          <p:cNvPr id="25" name="Shape 21"/>
          <p:cNvSpPr/>
          <p:nvPr/>
        </p:nvSpPr>
        <p:spPr>
          <a:xfrm>
            <a:off x="502920" y="4251960"/>
            <a:ext cx="1330726" cy="137160"/>
          </a:xfrm>
          <a:prstGeom prst="rect">
            <a:avLst/>
          </a:prstGeom>
          <a:solidFill>
            <a:srgbClr val="E8570A"/>
          </a:solidFill>
          <a:ln w="12700">
            <a:solidFill>
              <a:srgbClr val="E8570A"/>
            </a:solidFill>
            <a:prstDash val="solid"/>
          </a:ln>
        </p:spPr>
      </p:sp>
      <p:sp>
        <p:nvSpPr>
          <p:cNvPr id="26" name="Text 22"/>
          <p:cNvSpPr/>
          <p:nvPr/>
        </p:nvSpPr>
        <p:spPr>
          <a:xfrm>
            <a:off x="3749040" y="4206240"/>
            <a:ext cx="457200" cy="228600"/>
          </a:xfrm>
          <a:prstGeom prst="rect">
            <a:avLst/>
          </a:prstGeom>
          <a:noFill/>
          <a:ln/>
        </p:spPr>
        <p:txBody>
          <a:bodyPr wrap="square" rtlCol="0" anchor="ctr"/>
          <a:lstStyle/>
          <a:p>
            <a:pPr marL="0" indent="0">
              <a:buNone/>
            </a:pPr>
            <a:r>
              <a:rPr lang="en-US" sz="1000" b="1" dirty="0">
                <a:solidFill>
                  <a:srgbClr val="E8570A"/>
                </a:solidFill>
                <a:latin typeface="Calibri" pitchFamily="34" charset="0"/>
                <a:ea typeface="Calibri" pitchFamily="34" charset="-122"/>
                <a:cs typeface="Calibri" pitchFamily="34" charset="-120"/>
              </a:rPr>
              <a:t>37.8%</a:t>
            </a:r>
            <a:endParaRPr lang="en-US" sz="1000" dirty="0"/>
          </a:p>
        </p:txBody>
      </p:sp>
      <p:sp>
        <p:nvSpPr>
          <p:cNvPr id="27" name="Text 23"/>
          <p:cNvSpPr/>
          <p:nvPr/>
        </p:nvSpPr>
        <p:spPr>
          <a:xfrm>
            <a:off x="502920" y="4389120"/>
            <a:ext cx="1828800" cy="274320"/>
          </a:xfrm>
          <a:prstGeom prst="rect">
            <a:avLst/>
          </a:prstGeom>
          <a:noFill/>
          <a:ln/>
        </p:spPr>
        <p:txBody>
          <a:bodyPr wrap="square" rtlCol="0" anchor="ctr"/>
          <a:lstStyle/>
          <a:p>
            <a:pPr marL="0" indent="0">
              <a:buNone/>
            </a:pPr>
            <a:r>
              <a:rPr lang="en-US" sz="1100" dirty="0">
                <a:solidFill>
                  <a:srgbClr val="E8E8E8"/>
                </a:solidFill>
                <a:latin typeface="Calibri" pitchFamily="34" charset="0"/>
                <a:ea typeface="Calibri" pitchFamily="34" charset="-122"/>
                <a:cs typeface="Calibri" pitchFamily="34" charset="-120"/>
              </a:rPr>
              <a:t>Older (55+)</a:t>
            </a:r>
            <a:endParaRPr lang="en-US" sz="1100" dirty="0"/>
          </a:p>
        </p:txBody>
      </p:sp>
      <p:sp>
        <p:nvSpPr>
          <p:cNvPr id="28" name="Shape 24"/>
          <p:cNvSpPr/>
          <p:nvPr/>
        </p:nvSpPr>
        <p:spPr>
          <a:xfrm>
            <a:off x="502920" y="4663440"/>
            <a:ext cx="3520440" cy="137160"/>
          </a:xfrm>
          <a:prstGeom prst="rect">
            <a:avLst/>
          </a:prstGeom>
          <a:solidFill>
            <a:srgbClr val="3D3D3D"/>
          </a:solidFill>
          <a:ln w="12700">
            <a:solidFill>
              <a:srgbClr val="3D3D3D"/>
            </a:solidFill>
            <a:prstDash val="solid"/>
          </a:ln>
        </p:spPr>
      </p:sp>
      <p:sp>
        <p:nvSpPr>
          <p:cNvPr id="29" name="Shape 25"/>
          <p:cNvSpPr/>
          <p:nvPr/>
        </p:nvSpPr>
        <p:spPr>
          <a:xfrm>
            <a:off x="502920" y="4663440"/>
            <a:ext cx="978682" cy="137160"/>
          </a:xfrm>
          <a:prstGeom prst="rect">
            <a:avLst/>
          </a:prstGeom>
          <a:solidFill>
            <a:srgbClr val="E8570A"/>
          </a:solidFill>
          <a:ln w="12700">
            <a:solidFill>
              <a:srgbClr val="E8570A"/>
            </a:solidFill>
            <a:prstDash val="solid"/>
          </a:ln>
        </p:spPr>
      </p:sp>
      <p:sp>
        <p:nvSpPr>
          <p:cNvPr id="30" name="Text 26"/>
          <p:cNvSpPr/>
          <p:nvPr/>
        </p:nvSpPr>
        <p:spPr>
          <a:xfrm>
            <a:off x="3749040" y="4617720"/>
            <a:ext cx="457200" cy="228600"/>
          </a:xfrm>
          <a:prstGeom prst="rect">
            <a:avLst/>
          </a:prstGeom>
          <a:noFill/>
          <a:ln/>
        </p:spPr>
        <p:txBody>
          <a:bodyPr wrap="square" rtlCol="0" anchor="ctr"/>
          <a:lstStyle/>
          <a:p>
            <a:pPr marL="0" indent="0">
              <a:buNone/>
            </a:pPr>
            <a:r>
              <a:rPr lang="en-US" sz="1000" b="1" dirty="0">
                <a:solidFill>
                  <a:srgbClr val="E8570A"/>
                </a:solidFill>
                <a:latin typeface="Calibri" pitchFamily="34" charset="0"/>
                <a:ea typeface="Calibri" pitchFamily="34" charset="-122"/>
                <a:cs typeface="Calibri" pitchFamily="34" charset="-120"/>
              </a:rPr>
              <a:t>27.8%</a:t>
            </a:r>
            <a:endParaRPr lang="en-US" sz="1000" dirty="0"/>
          </a:p>
        </p:txBody>
      </p:sp>
      <p:sp>
        <p:nvSpPr>
          <p:cNvPr id="31" name="Shape 27"/>
          <p:cNvSpPr/>
          <p:nvPr/>
        </p:nvSpPr>
        <p:spPr>
          <a:xfrm>
            <a:off x="4572000" y="822960"/>
            <a:ext cx="4297680" cy="1828800"/>
          </a:xfrm>
          <a:prstGeom prst="rect">
            <a:avLst/>
          </a:prstGeom>
          <a:solidFill>
            <a:srgbClr val="2D2D2D">
              <a:alpha val="85000"/>
            </a:srgbClr>
          </a:solidFill>
          <a:ln w="6350">
            <a:solidFill>
              <a:srgbClr val="3D3D3D"/>
            </a:solidFill>
            <a:prstDash val="solid"/>
          </a:ln>
        </p:spPr>
      </p:sp>
      <p:sp>
        <p:nvSpPr>
          <p:cNvPr id="32" name="Shape 28"/>
          <p:cNvSpPr/>
          <p:nvPr/>
        </p:nvSpPr>
        <p:spPr>
          <a:xfrm>
            <a:off x="4572000" y="822960"/>
            <a:ext cx="54864" cy="1828800"/>
          </a:xfrm>
          <a:prstGeom prst="rect">
            <a:avLst/>
          </a:prstGeom>
          <a:solidFill>
            <a:srgbClr val="E8570A"/>
          </a:solidFill>
          <a:ln w="12700">
            <a:solidFill>
              <a:srgbClr val="E8570A"/>
            </a:solidFill>
            <a:prstDash val="solid"/>
          </a:ln>
        </p:spPr>
      </p:sp>
      <p:sp>
        <p:nvSpPr>
          <p:cNvPr id="33" name="Text 29"/>
          <p:cNvSpPr/>
          <p:nvPr/>
        </p:nvSpPr>
        <p:spPr>
          <a:xfrm>
            <a:off x="4754880" y="914400"/>
            <a:ext cx="3657600" cy="365760"/>
          </a:xfrm>
          <a:prstGeom prst="rect">
            <a:avLst/>
          </a:prstGeom>
          <a:noFill/>
          <a:ln/>
        </p:spPr>
        <p:txBody>
          <a:bodyPr wrap="square" rtlCol="0" anchor="ctr"/>
          <a:lstStyle/>
          <a:p>
            <a:pPr marL="0" indent="0">
              <a:buNone/>
            </a:pPr>
            <a:r>
              <a:rPr lang="en-US" sz="1400" b="1" kern="0" spc="200" dirty="0">
                <a:solidFill>
                  <a:srgbClr val="E8570A"/>
                </a:solidFill>
                <a:latin typeface="Arial" pitchFamily="34" charset="0"/>
                <a:ea typeface="Arial" pitchFamily="34" charset="-122"/>
                <a:cs typeface="Arial" pitchFamily="34" charset="-120"/>
              </a:rPr>
              <a:t>DIAGNOSIS TYPE</a:t>
            </a:r>
            <a:endParaRPr lang="en-US" sz="1400" dirty="0"/>
          </a:p>
        </p:txBody>
      </p:sp>
      <p:pic>
        <p:nvPicPr>
          <p:cNvPr id="34" name="Image 2" descr="preencoded.png"/>
          <p:cNvPicPr>
            <a:picLocks noChangeAspect="1"/>
          </p:cNvPicPr>
          <p:nvPr/>
        </p:nvPicPr>
        <p:blipFill>
          <a:blip r:embed="rId5"/>
          <a:stretch>
            <a:fillRect/>
          </a:stretch>
        </p:blipFill>
        <p:spPr>
          <a:xfrm>
            <a:off x="4800600" y="1371600"/>
            <a:ext cx="411480" cy="411480"/>
          </a:xfrm>
          <a:prstGeom prst="rect">
            <a:avLst/>
          </a:prstGeom>
        </p:spPr>
      </p:pic>
      <p:sp>
        <p:nvSpPr>
          <p:cNvPr id="35" name="Text 30"/>
          <p:cNvSpPr/>
          <p:nvPr/>
        </p:nvSpPr>
        <p:spPr>
          <a:xfrm>
            <a:off x="5303520" y="1417320"/>
            <a:ext cx="32004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ICD10 Coded Diagnoses</a:t>
            </a:r>
            <a:endParaRPr lang="en-US" sz="1300" dirty="0"/>
          </a:p>
        </p:txBody>
      </p:sp>
      <p:pic>
        <p:nvPicPr>
          <p:cNvPr id="36" name="Image 3" descr="preencoded.png"/>
          <p:cNvPicPr>
            <a:picLocks noChangeAspect="1"/>
          </p:cNvPicPr>
          <p:nvPr/>
        </p:nvPicPr>
        <p:blipFill>
          <a:blip r:embed="rId6"/>
          <a:stretch>
            <a:fillRect/>
          </a:stretch>
        </p:blipFill>
        <p:spPr>
          <a:xfrm>
            <a:off x="4800600" y="1828800"/>
            <a:ext cx="411480" cy="411480"/>
          </a:xfrm>
          <a:prstGeom prst="rect">
            <a:avLst/>
          </a:prstGeom>
        </p:spPr>
      </p:pic>
      <p:sp>
        <p:nvSpPr>
          <p:cNvPr id="37" name="Text 31"/>
          <p:cNvSpPr/>
          <p:nvPr/>
        </p:nvSpPr>
        <p:spPr>
          <a:xfrm>
            <a:off x="5303520" y="1874520"/>
            <a:ext cx="3200400" cy="320040"/>
          </a:xfrm>
          <a:prstGeom prst="rect">
            <a:avLst/>
          </a:prstGeom>
          <a:noFill/>
          <a:ln/>
        </p:spPr>
        <p:txBody>
          <a:bodyPr wrap="square" rtlCol="0" anchor="ctr"/>
          <a:lstStyle/>
          <a:p>
            <a:pPr marL="0" indent="0">
              <a:buNone/>
            </a:pPr>
            <a:r>
              <a:rPr lang="en-US" sz="1100" i="1" dirty="0">
                <a:solidFill>
                  <a:srgbClr val="AAAAAA"/>
                </a:solidFill>
                <a:latin typeface="Calibri" pitchFamily="34" charset="0"/>
                <a:ea typeface="Calibri" pitchFamily="34" charset="-122"/>
                <a:cs typeface="Calibri" pitchFamily="34" charset="-120"/>
              </a:rPr>
              <a:t>All diagnosis types included in analysis</a:t>
            </a:r>
            <a:endParaRPr lang="en-US" sz="1100" dirty="0"/>
          </a:p>
        </p:txBody>
      </p:sp>
      <p:sp>
        <p:nvSpPr>
          <p:cNvPr id="38" name="Shape 32"/>
          <p:cNvSpPr/>
          <p:nvPr/>
        </p:nvSpPr>
        <p:spPr>
          <a:xfrm>
            <a:off x="4572000" y="2834640"/>
            <a:ext cx="4297680" cy="1920240"/>
          </a:xfrm>
          <a:prstGeom prst="rect">
            <a:avLst/>
          </a:prstGeom>
          <a:solidFill>
            <a:srgbClr val="2D2D2D">
              <a:alpha val="85000"/>
            </a:srgbClr>
          </a:solidFill>
          <a:ln w="6350">
            <a:solidFill>
              <a:srgbClr val="3D3D3D"/>
            </a:solidFill>
            <a:prstDash val="solid"/>
          </a:ln>
        </p:spPr>
      </p:sp>
      <p:sp>
        <p:nvSpPr>
          <p:cNvPr id="39" name="Shape 33"/>
          <p:cNvSpPr/>
          <p:nvPr/>
        </p:nvSpPr>
        <p:spPr>
          <a:xfrm>
            <a:off x="4572000" y="2834640"/>
            <a:ext cx="54864" cy="1920240"/>
          </a:xfrm>
          <a:prstGeom prst="rect">
            <a:avLst/>
          </a:prstGeom>
          <a:solidFill>
            <a:srgbClr val="E8570A"/>
          </a:solidFill>
          <a:ln w="12700">
            <a:solidFill>
              <a:srgbClr val="E8570A"/>
            </a:solidFill>
            <a:prstDash val="solid"/>
          </a:ln>
        </p:spPr>
      </p:sp>
      <p:sp>
        <p:nvSpPr>
          <p:cNvPr id="40" name="Text 34"/>
          <p:cNvSpPr/>
          <p:nvPr/>
        </p:nvSpPr>
        <p:spPr>
          <a:xfrm>
            <a:off x="4754880" y="2926080"/>
            <a:ext cx="3657600" cy="365760"/>
          </a:xfrm>
          <a:prstGeom prst="rect">
            <a:avLst/>
          </a:prstGeom>
          <a:noFill/>
          <a:ln/>
        </p:spPr>
        <p:txBody>
          <a:bodyPr wrap="square" rtlCol="0" anchor="ctr"/>
          <a:lstStyle/>
          <a:p>
            <a:pPr marL="0" indent="0">
              <a:buNone/>
            </a:pPr>
            <a:r>
              <a:rPr lang="en-US" sz="1400" b="1" kern="0" spc="200" dirty="0">
                <a:solidFill>
                  <a:srgbClr val="E8570A"/>
                </a:solidFill>
                <a:latin typeface="Arial" pitchFamily="34" charset="0"/>
                <a:ea typeface="Arial" pitchFamily="34" charset="-122"/>
                <a:cs typeface="Arial" pitchFamily="34" charset="-120"/>
              </a:rPr>
              <a:t>SURVEY METHOD</a:t>
            </a:r>
            <a:endParaRPr lang="en-US" sz="1400" dirty="0"/>
          </a:p>
        </p:txBody>
      </p:sp>
      <p:sp>
        <p:nvSpPr>
          <p:cNvPr id="41" name="Text 35"/>
          <p:cNvSpPr/>
          <p:nvPr/>
        </p:nvSpPr>
        <p:spPr>
          <a:xfrm>
            <a:off x="4754880" y="3429000"/>
            <a:ext cx="1828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Weighted</a:t>
            </a:r>
            <a:endParaRPr lang="en-US" sz="1200" dirty="0"/>
          </a:p>
        </p:txBody>
      </p:sp>
      <p:sp>
        <p:nvSpPr>
          <p:cNvPr id="42" name="Text 36"/>
          <p:cNvSpPr/>
          <p:nvPr/>
        </p:nvSpPr>
        <p:spPr>
          <a:xfrm>
            <a:off x="7772400" y="3429000"/>
            <a:ext cx="914400" cy="274320"/>
          </a:xfrm>
          <a:prstGeom prst="rect">
            <a:avLst/>
          </a:prstGeom>
          <a:noFill/>
          <a:ln/>
        </p:spPr>
        <p:txBody>
          <a:bodyPr wrap="square" rtlCol="0" anchor="ctr"/>
          <a:lstStyle/>
          <a:p>
            <a:pPr marL="0" indent="0" algn="r">
              <a:buNone/>
            </a:pPr>
            <a:r>
              <a:rPr lang="en-US" sz="1200" b="1" dirty="0">
                <a:solidFill>
                  <a:srgbClr val="E8570A"/>
                </a:solidFill>
                <a:latin typeface="Calibri" pitchFamily="34" charset="0"/>
                <a:ea typeface="Calibri" pitchFamily="34" charset="-122"/>
                <a:cs typeface="Calibri" pitchFamily="34" charset="-120"/>
              </a:rPr>
              <a:t>56.65%</a:t>
            </a:r>
            <a:endParaRPr lang="en-US" sz="1200" dirty="0"/>
          </a:p>
        </p:txBody>
      </p:sp>
      <p:sp>
        <p:nvSpPr>
          <p:cNvPr id="43" name="Shape 37"/>
          <p:cNvSpPr/>
          <p:nvPr/>
        </p:nvSpPr>
        <p:spPr>
          <a:xfrm>
            <a:off x="4754880" y="3721608"/>
            <a:ext cx="3840480" cy="182880"/>
          </a:xfrm>
          <a:prstGeom prst="rect">
            <a:avLst/>
          </a:prstGeom>
          <a:solidFill>
            <a:srgbClr val="3D3D3D"/>
          </a:solidFill>
          <a:ln w="12700">
            <a:solidFill>
              <a:srgbClr val="3D3D3D"/>
            </a:solidFill>
            <a:prstDash val="solid"/>
          </a:ln>
        </p:spPr>
      </p:sp>
      <p:sp>
        <p:nvSpPr>
          <p:cNvPr id="44" name="Shape 38"/>
          <p:cNvSpPr/>
          <p:nvPr/>
        </p:nvSpPr>
        <p:spPr>
          <a:xfrm>
            <a:off x="4754880" y="3721608"/>
            <a:ext cx="2175632" cy="182880"/>
          </a:xfrm>
          <a:prstGeom prst="rect">
            <a:avLst/>
          </a:prstGeom>
          <a:solidFill>
            <a:srgbClr val="E8570A"/>
          </a:solidFill>
          <a:ln w="12700">
            <a:solidFill>
              <a:srgbClr val="E8570A"/>
            </a:solidFill>
            <a:prstDash val="solid"/>
          </a:ln>
        </p:spPr>
      </p:sp>
      <p:sp>
        <p:nvSpPr>
          <p:cNvPr id="45" name="Text 39"/>
          <p:cNvSpPr/>
          <p:nvPr/>
        </p:nvSpPr>
        <p:spPr>
          <a:xfrm>
            <a:off x="4754880" y="4023360"/>
            <a:ext cx="18288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Unweighted</a:t>
            </a:r>
            <a:endParaRPr lang="en-US" sz="1200" dirty="0"/>
          </a:p>
        </p:txBody>
      </p:sp>
      <p:sp>
        <p:nvSpPr>
          <p:cNvPr id="46" name="Text 40"/>
          <p:cNvSpPr/>
          <p:nvPr/>
        </p:nvSpPr>
        <p:spPr>
          <a:xfrm>
            <a:off x="7772400" y="4023360"/>
            <a:ext cx="914400" cy="274320"/>
          </a:xfrm>
          <a:prstGeom prst="rect">
            <a:avLst/>
          </a:prstGeom>
          <a:noFill/>
          <a:ln/>
        </p:spPr>
        <p:txBody>
          <a:bodyPr wrap="square" rtlCol="0" anchor="ctr"/>
          <a:lstStyle/>
          <a:p>
            <a:pPr marL="0" indent="0" algn="r">
              <a:buNone/>
            </a:pPr>
            <a:r>
              <a:rPr lang="en-US" sz="1200" b="1" dirty="0">
                <a:solidFill>
                  <a:srgbClr val="FF7A2F"/>
                </a:solidFill>
                <a:latin typeface="Calibri" pitchFamily="34" charset="0"/>
                <a:ea typeface="Calibri" pitchFamily="34" charset="-122"/>
                <a:cs typeface="Calibri" pitchFamily="34" charset="-120"/>
              </a:rPr>
              <a:t>43.35%</a:t>
            </a:r>
            <a:endParaRPr lang="en-US" sz="1200" dirty="0"/>
          </a:p>
        </p:txBody>
      </p:sp>
      <p:sp>
        <p:nvSpPr>
          <p:cNvPr id="47" name="Shape 41"/>
          <p:cNvSpPr/>
          <p:nvPr/>
        </p:nvSpPr>
        <p:spPr>
          <a:xfrm>
            <a:off x="4754880" y="4315968"/>
            <a:ext cx="3840480" cy="182880"/>
          </a:xfrm>
          <a:prstGeom prst="rect">
            <a:avLst/>
          </a:prstGeom>
          <a:solidFill>
            <a:srgbClr val="3D3D3D"/>
          </a:solidFill>
          <a:ln w="12700">
            <a:solidFill>
              <a:srgbClr val="3D3D3D"/>
            </a:solidFill>
            <a:prstDash val="solid"/>
          </a:ln>
        </p:spPr>
      </p:sp>
      <p:sp>
        <p:nvSpPr>
          <p:cNvPr id="48" name="Shape 42"/>
          <p:cNvSpPr/>
          <p:nvPr/>
        </p:nvSpPr>
        <p:spPr>
          <a:xfrm>
            <a:off x="4754880" y="4315968"/>
            <a:ext cx="1664848" cy="182880"/>
          </a:xfrm>
          <a:prstGeom prst="rect">
            <a:avLst/>
          </a:prstGeom>
          <a:solidFill>
            <a:srgbClr val="FF7A2F"/>
          </a:solidFill>
          <a:ln w="12700">
            <a:solidFill>
              <a:srgbClr val="FF7A2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0A0A0A"/>
            </a:solidFill>
            <a:prstDash val="solid"/>
          </a:ln>
        </p:spPr>
      </p:sp>
      <p:sp>
        <p:nvSpPr>
          <p:cNvPr id="3" name="Shape 1"/>
          <p:cNvSpPr/>
          <p:nvPr/>
        </p:nvSpPr>
        <p:spPr>
          <a:xfrm>
            <a:off x="0" y="0"/>
            <a:ext cx="9144000" cy="54864"/>
          </a:xfrm>
          <a:prstGeom prst="rect">
            <a:avLst/>
          </a:prstGeom>
          <a:solidFill>
            <a:srgbClr val="E8570A"/>
          </a:solidFill>
          <a:ln w="12700">
            <a:solidFill>
              <a:srgbClr val="E8570A"/>
            </a:solidFill>
            <a:prstDash val="solid"/>
          </a:ln>
        </p:spPr>
      </p:sp>
      <p:sp>
        <p:nvSpPr>
          <p:cNvPr id="4" name="Text 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ICD10 DIAGNOSIS ANALYSIS</a:t>
            </a:r>
            <a:endParaRPr lang="en-US" sz="2200" dirty="0"/>
          </a:p>
        </p:txBody>
      </p:sp>
      <p:sp>
        <p:nvSpPr>
          <p:cNvPr id="5" name="Shape 3"/>
          <p:cNvSpPr/>
          <p:nvPr/>
        </p:nvSpPr>
        <p:spPr>
          <a:xfrm>
            <a:off x="274320" y="822960"/>
            <a:ext cx="2743200" cy="914400"/>
          </a:xfrm>
          <a:prstGeom prst="rect">
            <a:avLst/>
          </a:prstGeom>
          <a:solidFill>
            <a:srgbClr val="252525"/>
          </a:solidFill>
          <a:ln w="12700">
            <a:solidFill>
              <a:srgbClr val="E8570A"/>
            </a:solidFill>
            <a:prstDash val="solid"/>
          </a:ln>
        </p:spPr>
      </p:sp>
      <p:sp>
        <p:nvSpPr>
          <p:cNvPr id="6" name="Text 4"/>
          <p:cNvSpPr/>
          <p:nvPr/>
        </p:nvSpPr>
        <p:spPr>
          <a:xfrm>
            <a:off x="274320" y="868680"/>
            <a:ext cx="2743200" cy="502920"/>
          </a:xfrm>
          <a:prstGeom prst="rect">
            <a:avLst/>
          </a:prstGeom>
          <a:noFill/>
          <a:ln/>
        </p:spPr>
        <p:txBody>
          <a:bodyPr wrap="square" rtlCol="0" anchor="ctr"/>
          <a:lstStyle/>
          <a:p>
            <a:pPr marL="0" indent="0" algn="ctr">
              <a:buNone/>
            </a:pPr>
            <a:r>
              <a:rPr lang="en-US" sz="3000" b="1" dirty="0">
                <a:solidFill>
                  <a:srgbClr val="E8570A"/>
                </a:solidFill>
                <a:latin typeface="Arial Black" pitchFamily="34" charset="0"/>
                <a:ea typeface="Arial Black" pitchFamily="34" charset="-122"/>
                <a:cs typeface="Arial Black" pitchFamily="34" charset="-120"/>
              </a:rPr>
              <a:t>111,846</a:t>
            </a:r>
            <a:endParaRPr lang="en-US" sz="3000" dirty="0"/>
          </a:p>
        </p:txBody>
      </p:sp>
      <p:sp>
        <p:nvSpPr>
          <p:cNvPr id="7" name="Text 5"/>
          <p:cNvSpPr/>
          <p:nvPr/>
        </p:nvSpPr>
        <p:spPr>
          <a:xfrm>
            <a:off x="274320" y="1371600"/>
            <a:ext cx="2743200" cy="32004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Total Year-Gender Records</a:t>
            </a:r>
            <a:endParaRPr lang="en-US" sz="1000" dirty="0"/>
          </a:p>
        </p:txBody>
      </p:sp>
      <p:sp>
        <p:nvSpPr>
          <p:cNvPr id="8" name="Shape 6"/>
          <p:cNvSpPr/>
          <p:nvPr/>
        </p:nvSpPr>
        <p:spPr>
          <a:xfrm>
            <a:off x="3200400" y="822960"/>
            <a:ext cx="2743200" cy="914400"/>
          </a:xfrm>
          <a:prstGeom prst="rect">
            <a:avLst/>
          </a:prstGeom>
          <a:solidFill>
            <a:srgbClr val="252525"/>
          </a:solidFill>
          <a:ln w="12700">
            <a:solidFill>
              <a:srgbClr val="E8570A"/>
            </a:solidFill>
            <a:prstDash val="solid"/>
          </a:ln>
        </p:spPr>
      </p:sp>
      <p:sp>
        <p:nvSpPr>
          <p:cNvPr id="9" name="Text 7"/>
          <p:cNvSpPr/>
          <p:nvPr/>
        </p:nvSpPr>
        <p:spPr>
          <a:xfrm>
            <a:off x="3200400" y="868680"/>
            <a:ext cx="2743200" cy="502920"/>
          </a:xfrm>
          <a:prstGeom prst="rect">
            <a:avLst/>
          </a:prstGeom>
          <a:noFill/>
          <a:ln/>
        </p:spPr>
        <p:txBody>
          <a:bodyPr wrap="square" rtlCol="0" anchor="ctr"/>
          <a:lstStyle/>
          <a:p>
            <a:pPr marL="0" indent="0" algn="ctr">
              <a:buNone/>
            </a:pPr>
            <a:r>
              <a:rPr lang="en-US" sz="3000" b="1" dirty="0">
                <a:solidFill>
                  <a:srgbClr val="E8570A"/>
                </a:solidFill>
                <a:latin typeface="Arial Black" pitchFamily="34" charset="0"/>
                <a:ea typeface="Arial Black" pitchFamily="34" charset="-122"/>
                <a:cs typeface="Arial Black" pitchFamily="34" charset="-120"/>
              </a:rPr>
              <a:t>1,564</a:t>
            </a:r>
            <a:endParaRPr lang="en-US" sz="3000" dirty="0"/>
          </a:p>
        </p:txBody>
      </p:sp>
      <p:sp>
        <p:nvSpPr>
          <p:cNvPr id="10" name="Text 8"/>
          <p:cNvSpPr/>
          <p:nvPr/>
        </p:nvSpPr>
        <p:spPr>
          <a:xfrm>
            <a:off x="3200400" y="1371600"/>
            <a:ext cx="2743200" cy="32004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Total 16+ Population</a:t>
            </a:r>
            <a:endParaRPr lang="en-US" sz="1000" dirty="0"/>
          </a:p>
        </p:txBody>
      </p:sp>
      <p:sp>
        <p:nvSpPr>
          <p:cNvPr id="11" name="Shape 9"/>
          <p:cNvSpPr/>
          <p:nvPr/>
        </p:nvSpPr>
        <p:spPr>
          <a:xfrm>
            <a:off x="6126480" y="822960"/>
            <a:ext cx="2743200" cy="914400"/>
          </a:xfrm>
          <a:prstGeom prst="rect">
            <a:avLst/>
          </a:prstGeom>
          <a:solidFill>
            <a:srgbClr val="252525"/>
          </a:solidFill>
          <a:ln w="12700">
            <a:solidFill>
              <a:srgbClr val="E8570A"/>
            </a:solidFill>
            <a:prstDash val="solid"/>
          </a:ln>
        </p:spPr>
      </p:sp>
      <p:sp>
        <p:nvSpPr>
          <p:cNvPr id="12" name="Text 10"/>
          <p:cNvSpPr/>
          <p:nvPr/>
        </p:nvSpPr>
        <p:spPr>
          <a:xfrm>
            <a:off x="6126480" y="868680"/>
            <a:ext cx="2743200" cy="502920"/>
          </a:xfrm>
          <a:prstGeom prst="rect">
            <a:avLst/>
          </a:prstGeom>
          <a:noFill/>
          <a:ln/>
        </p:spPr>
        <p:txBody>
          <a:bodyPr wrap="square" rtlCol="0" anchor="ctr"/>
          <a:lstStyle/>
          <a:p>
            <a:pPr marL="0" indent="0" algn="ctr">
              <a:buNone/>
            </a:pPr>
            <a:r>
              <a:rPr lang="en-US" sz="3000" b="1" dirty="0">
                <a:solidFill>
                  <a:srgbClr val="E8570A"/>
                </a:solidFill>
                <a:latin typeface="Arial Black" pitchFamily="34" charset="0"/>
                <a:ea typeface="Arial Black" pitchFamily="34" charset="-122"/>
                <a:cs typeface="Arial Black" pitchFamily="34" charset="-120"/>
              </a:rPr>
              <a:t>189</a:t>
            </a:r>
            <a:endParaRPr lang="en-US" sz="3000" dirty="0"/>
          </a:p>
        </p:txBody>
      </p:sp>
      <p:sp>
        <p:nvSpPr>
          <p:cNvPr id="13" name="Text 11"/>
          <p:cNvSpPr/>
          <p:nvPr/>
        </p:nvSpPr>
        <p:spPr>
          <a:xfrm>
            <a:off x="6126480" y="1371600"/>
            <a:ext cx="2743200" cy="32004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ICD10 Code Count</a:t>
            </a:r>
            <a:endParaRPr lang="en-US" sz="1000" dirty="0"/>
          </a:p>
        </p:txBody>
      </p:sp>
      <p:sp>
        <p:nvSpPr>
          <p:cNvPr id="14" name="Shape 12"/>
          <p:cNvSpPr/>
          <p:nvPr/>
        </p:nvSpPr>
        <p:spPr>
          <a:xfrm>
            <a:off x="274320" y="1920240"/>
            <a:ext cx="8595360" cy="2743200"/>
          </a:xfrm>
          <a:prstGeom prst="rect">
            <a:avLst/>
          </a:prstGeom>
          <a:solidFill>
            <a:srgbClr val="2D2D2D">
              <a:alpha val="85000"/>
            </a:srgbClr>
          </a:solidFill>
          <a:ln w="6350">
            <a:solidFill>
              <a:srgbClr val="3D3D3D"/>
            </a:solidFill>
            <a:prstDash val="solid"/>
          </a:ln>
        </p:spPr>
      </p:sp>
      <p:sp>
        <p:nvSpPr>
          <p:cNvPr id="15" name="Text 13"/>
          <p:cNvSpPr/>
          <p:nvPr/>
        </p:nvSpPr>
        <p:spPr>
          <a:xfrm>
            <a:off x="457200" y="1965960"/>
            <a:ext cx="5486400" cy="365760"/>
          </a:xfrm>
          <a:prstGeom prst="rect">
            <a:avLst/>
          </a:prstGeom>
          <a:noFill/>
          <a:ln/>
        </p:spPr>
        <p:txBody>
          <a:bodyPr wrap="square" rtlCol="0" anchor="ctr"/>
          <a:lstStyle/>
          <a:p>
            <a:pPr marL="0" indent="0">
              <a:buNone/>
            </a:pPr>
            <a:r>
              <a:rPr lang="en-US" sz="1300" b="1" dirty="0">
                <a:solidFill>
                  <a:srgbClr val="E8570A"/>
                </a:solidFill>
                <a:latin typeface="Arial" pitchFamily="34" charset="0"/>
                <a:ea typeface="Arial" pitchFamily="34" charset="-122"/>
                <a:cs typeface="Arial" pitchFamily="34" charset="-120"/>
              </a:rPr>
              <a:t>Breakdown by Year, Gender &amp; Method</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2103120"/>
        </p:xfrm>
        <a:graphic>
          <a:graphicData uri="http://schemas.openxmlformats.org/drawingml/2006/table">
            <a:tbl>
              <a:tblPr/>
              <a:tblGrid>
                <a:gridCol w="2057400"/>
                <a:gridCol w="2057400"/>
                <a:gridCol w="2057400"/>
                <a:gridCol w="2057400"/>
              </a:tblGrid>
              <a:tr h="35052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Sum of Year</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D3D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Sex</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D3D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Sum of 16 and Over</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D3D3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D3D3D"/>
                    </a:solidFill>
                  </a:tcPr>
                </a:tc>
              </a:tr>
              <a:tr h="350520">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25,818</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c>
                  <a:txBody>
                    <a:bodyPr/>
                    <a:lstStyle/>
                    <a:p>
                      <a:pPr marL="0" indent="0" algn="ctr">
                        <a:buNone/>
                      </a:pPr>
                      <a:r>
                        <a:rPr lang="en-US" sz="1200" dirty="0">
                          <a:solidFill>
                            <a:srgbClr val="FF7A2F"/>
                          </a:solidFill>
                          <a:latin typeface="Calibri" pitchFamily="34" charset="0"/>
                          <a:ea typeface="Calibri" pitchFamily="34" charset="-122"/>
                          <a:cs typeface="Calibri" pitchFamily="34" charset="-120"/>
                        </a:rPr>
                        <a:t>Female</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416</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c>
                  <a:txBody>
                    <a:bodyPr/>
                    <a:lstStyle/>
                    <a:p>
                      <a:pPr marL="0" indent="0" algn="ctr">
                        <a:buNone/>
                      </a:pPr>
                      <a:r>
                        <a:rPr lang="en-US" sz="1200" dirty="0">
                          <a:solidFill>
                            <a:srgbClr val="AAAAAA"/>
                          </a:solidFill>
                          <a:latin typeface="Calibri" pitchFamily="34" charset="0"/>
                          <a:ea typeface="Calibri" pitchFamily="34" charset="-122"/>
                          <a:cs typeface="Calibri" pitchFamily="34" charset="-120"/>
                        </a:rPr>
                        <a:t>Unweighted</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r>
              <a:tr h="350520">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30,105</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c>
                  <a:txBody>
                    <a:bodyPr/>
                    <a:lstStyle/>
                    <a:p>
                      <a:pPr marL="0" indent="0" algn="ctr">
                        <a:buNone/>
                      </a:pPr>
                      <a:r>
                        <a:rPr lang="en-US" sz="1200" dirty="0">
                          <a:solidFill>
                            <a:srgbClr val="FF7A2F"/>
                          </a:solidFill>
                          <a:latin typeface="Calibri" pitchFamily="34" charset="0"/>
                          <a:ea typeface="Calibri" pitchFamily="34" charset="-122"/>
                          <a:cs typeface="Calibri" pitchFamily="34" charset="-120"/>
                        </a:rPr>
                        <a:t>Female</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320</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c>
                  <a:txBody>
                    <a:bodyPr/>
                    <a:lstStyle/>
                    <a:p>
                      <a:pPr marL="0" indent="0" algn="ctr">
                        <a:buNone/>
                      </a:pPr>
                      <a:r>
                        <a:rPr lang="en-US" sz="1200" dirty="0">
                          <a:solidFill>
                            <a:srgbClr val="AAAAAA"/>
                          </a:solidFill>
                          <a:latin typeface="Calibri" pitchFamily="34" charset="0"/>
                          <a:ea typeface="Calibri" pitchFamily="34" charset="-122"/>
                          <a:cs typeface="Calibri" pitchFamily="34" charset="-120"/>
                        </a:rPr>
                        <a:t>Weighted</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r>
              <a:tr h="350520">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25,818</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c>
                  <a:txBody>
                    <a:bodyPr/>
                    <a:lstStyle/>
                    <a:p>
                      <a:pPr marL="0" indent="0" algn="ctr">
                        <a:buNone/>
                      </a:pPr>
                      <a:r>
                        <a:rPr lang="en-US" sz="1200" dirty="0">
                          <a:solidFill>
                            <a:srgbClr val="E8570A"/>
                          </a:solidFill>
                          <a:latin typeface="Calibri" pitchFamily="34" charset="0"/>
                          <a:ea typeface="Calibri" pitchFamily="34" charset="-122"/>
                          <a:cs typeface="Calibri" pitchFamily="34" charset="-120"/>
                        </a:rPr>
                        <a:t>Male</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470</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c>
                  <a:txBody>
                    <a:bodyPr/>
                    <a:lstStyle/>
                    <a:p>
                      <a:pPr marL="0" indent="0" algn="ctr">
                        <a:buNone/>
                      </a:pPr>
                      <a:r>
                        <a:rPr lang="en-US" sz="1200" dirty="0">
                          <a:solidFill>
                            <a:srgbClr val="AAAAAA"/>
                          </a:solidFill>
                          <a:latin typeface="Calibri" pitchFamily="34" charset="0"/>
                          <a:ea typeface="Calibri" pitchFamily="34" charset="-122"/>
                          <a:cs typeface="Calibri" pitchFamily="34" charset="-120"/>
                        </a:rPr>
                        <a:t>Unweighted</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52525"/>
                    </a:solidFill>
                  </a:tcPr>
                </a:tc>
              </a:tr>
              <a:tr h="350520">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30,105</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c>
                  <a:txBody>
                    <a:bodyPr/>
                    <a:lstStyle/>
                    <a:p>
                      <a:pPr marL="0" indent="0" algn="ctr">
                        <a:buNone/>
                      </a:pPr>
                      <a:r>
                        <a:rPr lang="en-US" sz="1200" dirty="0">
                          <a:solidFill>
                            <a:srgbClr val="E8570A"/>
                          </a:solidFill>
                          <a:latin typeface="Calibri" pitchFamily="34" charset="0"/>
                          <a:ea typeface="Calibri" pitchFamily="34" charset="-122"/>
                          <a:cs typeface="Calibri" pitchFamily="34" charset="-120"/>
                        </a:rPr>
                        <a:t>Male</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c>
                  <a:txBody>
                    <a:bodyPr/>
                    <a:lstStyle/>
                    <a:p>
                      <a:pPr marL="0" indent="0" algn="ctr">
                        <a:buNone/>
                      </a:pPr>
                      <a:r>
                        <a:rPr lang="en-US" sz="1200" dirty="0">
                          <a:solidFill>
                            <a:srgbClr val="E8E8E8"/>
                          </a:solidFill>
                          <a:latin typeface="Calibri" pitchFamily="34" charset="0"/>
                          <a:ea typeface="Calibri" pitchFamily="34" charset="-122"/>
                          <a:cs typeface="Calibri" pitchFamily="34" charset="-120"/>
                        </a:rPr>
                        <a:t>358</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c>
                  <a:txBody>
                    <a:bodyPr/>
                    <a:lstStyle/>
                    <a:p>
                      <a:pPr marL="0" indent="0" algn="ctr">
                        <a:buNone/>
                      </a:pPr>
                      <a:r>
                        <a:rPr lang="en-US" sz="1200" dirty="0">
                          <a:solidFill>
                            <a:srgbClr val="AAAAAA"/>
                          </a:solidFill>
                          <a:latin typeface="Calibri" pitchFamily="34" charset="0"/>
                          <a:ea typeface="Calibri" pitchFamily="34" charset="-122"/>
                          <a:cs typeface="Calibri" pitchFamily="34" charset="-120"/>
                        </a:rPr>
                        <a:t>Weighted</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333333"/>
                    </a:solidFill>
                  </a:tcPr>
                </a:tc>
              </a:tr>
              <a:tr h="350520">
                <a:tc>
                  <a:txBody>
                    <a:bodyPr/>
                    <a:lstStyle/>
                    <a:p>
                      <a:pPr marL="0" indent="0" algn="ctr">
                        <a:buNone/>
                      </a:pPr>
                      <a:r>
                        <a:rPr lang="en-US" sz="1200" b="1" dirty="0">
                          <a:solidFill>
                            <a:srgbClr val="E8570A"/>
                          </a:solidFill>
                          <a:latin typeface="Calibri" pitchFamily="34" charset="0"/>
                          <a:ea typeface="Calibri" pitchFamily="34" charset="-122"/>
                          <a:cs typeface="Calibri" pitchFamily="34" charset="-120"/>
                        </a:rPr>
                        <a:t>111,846</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D2D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D2D2D"/>
                    </a:solidFill>
                  </a:tcPr>
                </a:tc>
                <a:tc>
                  <a:txBody>
                    <a:bodyPr/>
                    <a:lstStyle/>
                    <a:p>
                      <a:pPr marL="0" indent="0" algn="ctr">
                        <a:buNone/>
                      </a:pPr>
                      <a:r>
                        <a:rPr lang="en-US" sz="1200" b="1" dirty="0">
                          <a:solidFill>
                            <a:srgbClr val="E8570A"/>
                          </a:solidFill>
                          <a:latin typeface="Calibri" pitchFamily="34" charset="0"/>
                          <a:ea typeface="Calibri" pitchFamily="34" charset="-122"/>
                          <a:cs typeface="Calibri" pitchFamily="34" charset="-120"/>
                        </a:rPr>
                        <a:t>1,564</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D2D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Combined</a:t>
                      </a:r>
                      <a:endParaRPr lang="en-US" sz="1200" dirty="0">
                        <a:latin typeface="Calibri" charset="0"/>
                        <a:ea typeface="Calibri" charset="0"/>
                        <a:cs typeface="Calibri" charset="0"/>
                      </a:endParaRPr>
                    </a:p>
                  </a:txBody>
                  <a:tcPr>
                    <a:lnL w="6350" cap="flat" cmpd="sng" algn="ctr">
                      <a:solidFill>
                        <a:srgbClr val="3D3D3D"/>
                      </a:solidFill>
                      <a:prstDash val="solid"/>
                      <a:round/>
                      <a:headEnd type="none" w="med" len="med"/>
                      <a:tailEnd type="none" w="med" len="med"/>
                    </a:lnL>
                    <a:lnR w="6350" cap="flat" cmpd="sng" algn="ctr">
                      <a:solidFill>
                        <a:srgbClr val="3D3D3D"/>
                      </a:solidFill>
                      <a:prstDash val="solid"/>
                      <a:round/>
                      <a:headEnd type="none" w="med" len="med"/>
                      <a:tailEnd type="none" w="med" len="med"/>
                    </a:lnR>
                    <a:lnT w="6350" cap="flat" cmpd="sng" algn="ctr">
                      <a:solidFill>
                        <a:srgbClr val="3D3D3D"/>
                      </a:solidFill>
                      <a:prstDash val="solid"/>
                      <a:round/>
                      <a:headEnd type="none" w="med" len="med"/>
                      <a:tailEnd type="none" w="med" len="med"/>
                    </a:lnT>
                    <a:lnB w="6350" cap="flat" cmpd="sng" algn="ctr">
                      <a:solidFill>
                        <a:srgbClr val="3D3D3D"/>
                      </a:solidFill>
                      <a:prstDash val="solid"/>
                      <a:round/>
                      <a:headEnd type="none" w="med" len="med"/>
                      <a:tailEnd type="none" w="med" len="med"/>
                    </a:lnB>
                    <a:solidFill>
                      <a:srgbClr val="2D2D2D"/>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0A0A0A"/>
            </a:solidFill>
            <a:prstDash val="solid"/>
          </a:ln>
        </p:spPr>
      </p:sp>
      <p:sp>
        <p:nvSpPr>
          <p:cNvPr id="3" name="Shape 1"/>
          <p:cNvSpPr/>
          <p:nvPr/>
        </p:nvSpPr>
        <p:spPr>
          <a:xfrm>
            <a:off x="0" y="0"/>
            <a:ext cx="9144000" cy="54864"/>
          </a:xfrm>
          <a:prstGeom prst="rect">
            <a:avLst/>
          </a:prstGeom>
          <a:solidFill>
            <a:srgbClr val="E8570A"/>
          </a:solidFill>
          <a:ln w="12700">
            <a:solidFill>
              <a:srgbClr val="E8570A"/>
            </a:solidFill>
            <a:prstDash val="solid"/>
          </a:ln>
        </p:spPr>
      </p:sp>
      <p:sp>
        <p:nvSpPr>
          <p:cNvPr id="4" name="Text 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VALUE &amp; MORTALITY TREND ANALYSIS</a:t>
            </a:r>
            <a:endParaRPr lang="en-US" sz="2200" dirty="0"/>
          </a:p>
        </p:txBody>
      </p:sp>
      <p:sp>
        <p:nvSpPr>
          <p:cNvPr id="5" name="Shape 3"/>
          <p:cNvSpPr/>
          <p:nvPr/>
        </p:nvSpPr>
        <p:spPr>
          <a:xfrm>
            <a:off x="274320" y="777240"/>
            <a:ext cx="8595360" cy="4023360"/>
          </a:xfrm>
          <a:prstGeom prst="rect">
            <a:avLst/>
          </a:prstGeom>
          <a:solidFill>
            <a:srgbClr val="2D2D2D">
              <a:alpha val="85000"/>
            </a:srgbClr>
          </a:solidFill>
          <a:ln w="6350">
            <a:solidFill>
              <a:srgbClr val="3D3D3D"/>
            </a:solidFill>
            <a:prstDash val="solid"/>
          </a:ln>
        </p:spPr>
      </p:sp>
      <p:sp>
        <p:nvSpPr>
          <p:cNvPr id="6" name="Text 4"/>
          <p:cNvSpPr/>
          <p:nvPr/>
        </p:nvSpPr>
        <p:spPr>
          <a:xfrm>
            <a:off x="457200" y="868680"/>
            <a:ext cx="6400800" cy="320040"/>
          </a:xfrm>
          <a:prstGeom prst="rect">
            <a:avLst/>
          </a:prstGeom>
          <a:noFill/>
          <a:ln/>
        </p:spPr>
        <p:txBody>
          <a:bodyPr wrap="square" rtlCol="0" anchor="ctr"/>
          <a:lstStyle/>
          <a:p>
            <a:pPr marL="0" indent="0">
              <a:buNone/>
            </a:pPr>
            <a:r>
              <a:rPr lang="en-US" sz="1200" i="1" dirty="0">
                <a:solidFill>
                  <a:srgbClr val="AAAAAA"/>
                </a:solidFill>
                <a:latin typeface="Calibri" pitchFamily="34" charset="0"/>
                <a:ea typeface="Calibri" pitchFamily="34" charset="-122"/>
                <a:cs typeface="Calibri" pitchFamily="34" charset="-120"/>
              </a:rPr>
              <a:t>Annual Smoking Value and Mortality Rate (2000–2015)</a:t>
            </a:r>
            <a:endParaRPr lang="en-US" sz="1200" dirty="0"/>
          </a:p>
        </p:txBody>
      </p:sp>
      <p:pic>
        <p:nvPicPr>
          <p:cNvPr id="7" name="Image 0" descr="preencoded.png"/>
          <p:cNvPicPr>
            <a:picLocks noChangeAspect="1"/>
          </p:cNvPicPr>
          <p:nvPr/>
        </p:nvPicPr>
        <p:blipFill>
          <a:blip r:embed="rId3"/>
          <a:stretch>
            <a:fillRect/>
          </a:stretch>
        </p:blipFill>
        <p:spPr>
          <a:xfrm>
            <a:off x="8229600" y="868680"/>
            <a:ext cx="320040" cy="320040"/>
          </a:xfrm>
          <a:prstGeom prst="rect">
            <a:avLst/>
          </a:prstGeom>
        </p:spPr>
      </p:pic>
      <p:graphicFrame>
        <p:nvGraphicFramePr>
          <p:cNvPr id="8" name="Chart 0"/>
          <p:cNvGraphicFramePr/>
          <p:nvPr/>
        </p:nvGraphicFramePr>
        <p:xfrm>
          <a:off x="365760" y="1234440"/>
          <a:ext cx="8412480" cy="3337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0A0A0A"/>
            </a:solidFill>
            <a:prstDash val="solid"/>
          </a:ln>
        </p:spPr>
      </p:sp>
      <p:sp>
        <p:nvSpPr>
          <p:cNvPr id="3" name="Shape 1"/>
          <p:cNvSpPr/>
          <p:nvPr/>
        </p:nvSpPr>
        <p:spPr>
          <a:xfrm>
            <a:off x="0" y="0"/>
            <a:ext cx="9144000" cy="54864"/>
          </a:xfrm>
          <a:prstGeom prst="rect">
            <a:avLst/>
          </a:prstGeom>
          <a:solidFill>
            <a:srgbClr val="E8570A"/>
          </a:solidFill>
          <a:ln w="12700">
            <a:solidFill>
              <a:srgbClr val="E8570A"/>
            </a:solidFill>
            <a:prstDash val="solid"/>
          </a:ln>
        </p:spPr>
      </p:sp>
      <p:sp>
        <p:nvSpPr>
          <p:cNvPr id="4" name="Text 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SMOKING METHOD DISTRIBUTION</a:t>
            </a:r>
            <a:endParaRPr lang="en-US" sz="2200" dirty="0"/>
          </a:p>
        </p:txBody>
      </p:sp>
      <p:sp>
        <p:nvSpPr>
          <p:cNvPr id="5" name="Shape 3"/>
          <p:cNvSpPr/>
          <p:nvPr/>
        </p:nvSpPr>
        <p:spPr>
          <a:xfrm>
            <a:off x="274320" y="822960"/>
            <a:ext cx="5029200" cy="4023360"/>
          </a:xfrm>
          <a:prstGeom prst="rect">
            <a:avLst/>
          </a:prstGeom>
          <a:solidFill>
            <a:srgbClr val="2D2D2D">
              <a:alpha val="85000"/>
            </a:srgbClr>
          </a:solidFill>
          <a:ln w="6350">
            <a:solidFill>
              <a:srgbClr val="3D3D3D"/>
            </a:solidFill>
            <a:prstDash val="solid"/>
          </a:ln>
        </p:spPr>
      </p:sp>
      <p:sp>
        <p:nvSpPr>
          <p:cNvPr id="6" name="Text 4"/>
          <p:cNvSpPr/>
          <p:nvPr/>
        </p:nvSpPr>
        <p:spPr>
          <a:xfrm>
            <a:off x="457200" y="914400"/>
            <a:ext cx="4572000" cy="365760"/>
          </a:xfrm>
          <a:prstGeom prst="rect">
            <a:avLst/>
          </a:prstGeom>
          <a:noFill/>
          <a:ln/>
        </p:spPr>
        <p:txBody>
          <a:bodyPr wrap="square" rtlCol="0" anchor="ctr"/>
          <a:lstStyle/>
          <a:p>
            <a:pPr marL="0" indent="0">
              <a:buNone/>
            </a:pPr>
            <a:r>
              <a:rPr lang="en-US" sz="1200" b="1" dirty="0">
                <a:solidFill>
                  <a:srgbClr val="E8570A"/>
                </a:solidFill>
                <a:latin typeface="Arial" pitchFamily="34" charset="0"/>
                <a:ea typeface="Arial" pitchFamily="34" charset="-122"/>
                <a:cs typeface="Arial" pitchFamily="34" charset="-120"/>
              </a:rPr>
              <a:t>Weighted vs. Unweighted Survey Method</a:t>
            </a:r>
            <a:endParaRPr lang="en-US" sz="1200" dirty="0"/>
          </a:p>
        </p:txBody>
      </p:sp>
      <p:graphicFrame>
        <p:nvGraphicFramePr>
          <p:cNvPr id="7" name="Chart 0"/>
          <p:cNvGraphicFramePr/>
          <p:nvPr/>
        </p:nvGraphicFramePr>
        <p:xfrm>
          <a:off x="457200" y="1325880"/>
          <a:ext cx="45720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577840" y="822960"/>
            <a:ext cx="3291840" cy="4023360"/>
          </a:xfrm>
          <a:prstGeom prst="rect">
            <a:avLst/>
          </a:prstGeom>
          <a:solidFill>
            <a:srgbClr val="2D2D2D">
              <a:alpha val="85000"/>
            </a:srgbClr>
          </a:solidFill>
          <a:ln w="6350">
            <a:solidFill>
              <a:srgbClr val="3D3D3D"/>
            </a:solidFill>
            <a:prstDash val="solid"/>
          </a:ln>
        </p:spPr>
      </p:sp>
      <p:sp>
        <p:nvSpPr>
          <p:cNvPr id="9" name="Shape 6"/>
          <p:cNvSpPr/>
          <p:nvPr/>
        </p:nvSpPr>
        <p:spPr>
          <a:xfrm>
            <a:off x="5577840" y="822960"/>
            <a:ext cx="54864" cy="4023360"/>
          </a:xfrm>
          <a:prstGeom prst="rect">
            <a:avLst/>
          </a:prstGeom>
          <a:solidFill>
            <a:srgbClr val="E8570A"/>
          </a:solidFill>
          <a:ln w="12700">
            <a:solidFill>
              <a:srgbClr val="E8570A"/>
            </a:solidFill>
            <a:prstDash val="solid"/>
          </a:ln>
        </p:spPr>
      </p:sp>
      <p:sp>
        <p:nvSpPr>
          <p:cNvPr id="10" name="Text 7"/>
          <p:cNvSpPr/>
          <p:nvPr/>
        </p:nvSpPr>
        <p:spPr>
          <a:xfrm>
            <a:off x="5760720" y="914400"/>
            <a:ext cx="3017520" cy="365760"/>
          </a:xfrm>
          <a:prstGeom prst="rect">
            <a:avLst/>
          </a:prstGeom>
          <a:noFill/>
          <a:ln/>
        </p:spPr>
        <p:txBody>
          <a:bodyPr wrap="square" rtlCol="0" anchor="ctr"/>
          <a:lstStyle/>
          <a:p>
            <a:pPr marL="0" indent="0">
              <a:buNone/>
            </a:pPr>
            <a:r>
              <a:rPr lang="en-US" sz="1300" b="1" kern="0" spc="200" dirty="0">
                <a:solidFill>
                  <a:srgbClr val="E8570A"/>
                </a:solidFill>
                <a:latin typeface="Arial" pitchFamily="34" charset="0"/>
                <a:ea typeface="Arial" pitchFamily="34" charset="-122"/>
                <a:cs typeface="Arial" pitchFamily="34" charset="-120"/>
              </a:rPr>
              <a:t>METHOD DETAILS</a:t>
            </a:r>
            <a:endParaRPr lang="en-US" sz="1300" dirty="0"/>
          </a:p>
        </p:txBody>
      </p:sp>
      <p:sp>
        <p:nvSpPr>
          <p:cNvPr id="11" name="Shape 8"/>
          <p:cNvSpPr/>
          <p:nvPr/>
        </p:nvSpPr>
        <p:spPr>
          <a:xfrm>
            <a:off x="5715000" y="1417320"/>
            <a:ext cx="3017520" cy="1508760"/>
          </a:xfrm>
          <a:prstGeom prst="rect">
            <a:avLst/>
          </a:prstGeom>
          <a:solidFill>
            <a:srgbClr val="333333"/>
          </a:solidFill>
          <a:ln w="6350">
            <a:solidFill>
              <a:srgbClr val="3D3D3D"/>
            </a:solidFill>
            <a:prstDash val="solid"/>
          </a:ln>
        </p:spPr>
      </p:sp>
      <p:sp>
        <p:nvSpPr>
          <p:cNvPr id="12" name="Text 9"/>
          <p:cNvSpPr/>
          <p:nvPr/>
        </p:nvSpPr>
        <p:spPr>
          <a:xfrm>
            <a:off x="5806440" y="1508760"/>
            <a:ext cx="182880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WEIGHTED</a:t>
            </a:r>
            <a:endParaRPr lang="en-US" sz="1300" dirty="0"/>
          </a:p>
        </p:txBody>
      </p:sp>
      <p:sp>
        <p:nvSpPr>
          <p:cNvPr id="13" name="Text 10"/>
          <p:cNvSpPr/>
          <p:nvPr/>
        </p:nvSpPr>
        <p:spPr>
          <a:xfrm>
            <a:off x="7178040" y="1508760"/>
            <a:ext cx="1371600" cy="320040"/>
          </a:xfrm>
          <a:prstGeom prst="rect">
            <a:avLst/>
          </a:prstGeom>
          <a:noFill/>
          <a:ln/>
        </p:spPr>
        <p:txBody>
          <a:bodyPr wrap="square" rtlCol="0" anchor="ctr"/>
          <a:lstStyle/>
          <a:p>
            <a:pPr marL="0" indent="0" algn="r">
              <a:buNone/>
            </a:pPr>
            <a:r>
              <a:rPr lang="en-US" sz="2200" b="1" dirty="0">
                <a:solidFill>
                  <a:srgbClr val="E8570A"/>
                </a:solidFill>
                <a:latin typeface="Arial Black" pitchFamily="34" charset="0"/>
                <a:ea typeface="Arial Black" pitchFamily="34" charset="-122"/>
                <a:cs typeface="Arial Black" pitchFamily="34" charset="-120"/>
              </a:rPr>
              <a:t>56.65%</a:t>
            </a:r>
            <a:endParaRPr lang="en-US" sz="2200" dirty="0"/>
          </a:p>
        </p:txBody>
      </p:sp>
      <p:sp>
        <p:nvSpPr>
          <p:cNvPr id="14" name="Text 11"/>
          <p:cNvSpPr/>
          <p:nvPr/>
        </p:nvSpPr>
        <p:spPr>
          <a:xfrm>
            <a:off x="5806440" y="1920240"/>
            <a:ext cx="2834640" cy="320040"/>
          </a:xfrm>
          <a:prstGeom prst="rect">
            <a:avLst/>
          </a:prstGeom>
          <a:noFill/>
          <a:ln/>
        </p:spPr>
        <p:txBody>
          <a:bodyPr wrap="square" rtlCol="0" anchor="ctr"/>
          <a:lstStyle/>
          <a:p>
            <a:pPr marL="0" indent="0">
              <a:buNone/>
            </a:pPr>
            <a:r>
              <a:rPr lang="en-US" sz="1100" dirty="0">
                <a:solidFill>
                  <a:srgbClr val="FF7A2F"/>
                </a:solidFill>
                <a:latin typeface="Calibri" pitchFamily="34" charset="0"/>
                <a:ea typeface="Calibri" pitchFamily="34" charset="-122"/>
                <a:cs typeface="Calibri" pitchFamily="34" charset="-120"/>
              </a:rPr>
              <a:t>Female: 320   </a:t>
            </a:r>
            <a:r>
              <a:rPr lang="en-US" sz="1100" dirty="0">
                <a:solidFill>
                  <a:srgbClr val="E8570A"/>
                </a:solidFill>
                <a:latin typeface="Calibri" pitchFamily="34" charset="0"/>
                <a:ea typeface="Calibri" pitchFamily="34" charset="-122"/>
                <a:cs typeface="Calibri" pitchFamily="34" charset="-120"/>
              </a:rPr>
              <a:t>Male: 358</a:t>
            </a:r>
            <a:endParaRPr lang="en-US" sz="1100" dirty="0"/>
          </a:p>
        </p:txBody>
      </p:sp>
      <p:sp>
        <p:nvSpPr>
          <p:cNvPr id="15" name="Text 12"/>
          <p:cNvSpPr/>
          <p:nvPr/>
        </p:nvSpPr>
        <p:spPr>
          <a:xfrm>
            <a:off x="5806440" y="2286000"/>
            <a:ext cx="2834640" cy="320040"/>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Total Population: 678</a:t>
            </a:r>
            <a:endParaRPr lang="en-US" sz="1100" dirty="0"/>
          </a:p>
        </p:txBody>
      </p:sp>
      <p:sp>
        <p:nvSpPr>
          <p:cNvPr id="16" name="Shape 13"/>
          <p:cNvSpPr/>
          <p:nvPr/>
        </p:nvSpPr>
        <p:spPr>
          <a:xfrm>
            <a:off x="5715000" y="2834640"/>
            <a:ext cx="3017520" cy="73152"/>
          </a:xfrm>
          <a:prstGeom prst="rect">
            <a:avLst/>
          </a:prstGeom>
          <a:solidFill>
            <a:srgbClr val="E8570A"/>
          </a:solidFill>
          <a:ln w="12700">
            <a:solidFill>
              <a:srgbClr val="E8570A"/>
            </a:solidFill>
            <a:prstDash val="solid"/>
          </a:ln>
        </p:spPr>
      </p:sp>
      <p:sp>
        <p:nvSpPr>
          <p:cNvPr id="17" name="Shape 14"/>
          <p:cNvSpPr/>
          <p:nvPr/>
        </p:nvSpPr>
        <p:spPr>
          <a:xfrm>
            <a:off x="5715000" y="3154680"/>
            <a:ext cx="3017520" cy="1508760"/>
          </a:xfrm>
          <a:prstGeom prst="rect">
            <a:avLst/>
          </a:prstGeom>
          <a:solidFill>
            <a:srgbClr val="333333"/>
          </a:solidFill>
          <a:ln w="6350">
            <a:solidFill>
              <a:srgbClr val="3D3D3D"/>
            </a:solidFill>
            <a:prstDash val="solid"/>
          </a:ln>
        </p:spPr>
      </p:sp>
      <p:sp>
        <p:nvSpPr>
          <p:cNvPr id="18" name="Text 15"/>
          <p:cNvSpPr/>
          <p:nvPr/>
        </p:nvSpPr>
        <p:spPr>
          <a:xfrm>
            <a:off x="5806440" y="3246120"/>
            <a:ext cx="1828800" cy="320040"/>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UNWEIGHTED</a:t>
            </a:r>
            <a:endParaRPr lang="en-US" sz="1300" dirty="0"/>
          </a:p>
        </p:txBody>
      </p:sp>
      <p:sp>
        <p:nvSpPr>
          <p:cNvPr id="19" name="Text 16"/>
          <p:cNvSpPr/>
          <p:nvPr/>
        </p:nvSpPr>
        <p:spPr>
          <a:xfrm>
            <a:off x="7178040" y="3246120"/>
            <a:ext cx="1371600" cy="320040"/>
          </a:xfrm>
          <a:prstGeom prst="rect">
            <a:avLst/>
          </a:prstGeom>
          <a:noFill/>
          <a:ln/>
        </p:spPr>
        <p:txBody>
          <a:bodyPr wrap="square" rtlCol="0" anchor="ctr"/>
          <a:lstStyle/>
          <a:p>
            <a:pPr marL="0" indent="0" algn="r">
              <a:buNone/>
            </a:pPr>
            <a:r>
              <a:rPr lang="en-US" sz="2200" b="1" dirty="0">
                <a:solidFill>
                  <a:srgbClr val="E8570A"/>
                </a:solidFill>
                <a:latin typeface="Arial Black" pitchFamily="34" charset="0"/>
                <a:ea typeface="Arial Black" pitchFamily="34" charset="-122"/>
                <a:cs typeface="Arial Black" pitchFamily="34" charset="-120"/>
              </a:rPr>
              <a:t>43.35%</a:t>
            </a:r>
            <a:endParaRPr lang="en-US" sz="2200" dirty="0"/>
          </a:p>
        </p:txBody>
      </p:sp>
      <p:sp>
        <p:nvSpPr>
          <p:cNvPr id="20" name="Text 17"/>
          <p:cNvSpPr/>
          <p:nvPr/>
        </p:nvSpPr>
        <p:spPr>
          <a:xfrm>
            <a:off x="5806440" y="3657600"/>
            <a:ext cx="2834640" cy="320040"/>
          </a:xfrm>
          <a:prstGeom prst="rect">
            <a:avLst/>
          </a:prstGeom>
          <a:noFill/>
          <a:ln/>
        </p:spPr>
        <p:txBody>
          <a:bodyPr wrap="square" rtlCol="0" anchor="ctr"/>
          <a:lstStyle/>
          <a:p>
            <a:pPr marL="0" indent="0">
              <a:buNone/>
            </a:pPr>
            <a:r>
              <a:rPr lang="en-US" sz="1100" dirty="0">
                <a:solidFill>
                  <a:srgbClr val="FF7A2F"/>
                </a:solidFill>
                <a:latin typeface="Calibri" pitchFamily="34" charset="0"/>
                <a:ea typeface="Calibri" pitchFamily="34" charset="-122"/>
                <a:cs typeface="Calibri" pitchFamily="34" charset="-120"/>
              </a:rPr>
              <a:t>Female: 416   </a:t>
            </a:r>
            <a:r>
              <a:rPr lang="en-US" sz="1100" dirty="0">
                <a:solidFill>
                  <a:srgbClr val="E8570A"/>
                </a:solidFill>
                <a:latin typeface="Calibri" pitchFamily="34" charset="0"/>
                <a:ea typeface="Calibri" pitchFamily="34" charset="-122"/>
                <a:cs typeface="Calibri" pitchFamily="34" charset="-120"/>
              </a:rPr>
              <a:t>Male: 470</a:t>
            </a:r>
            <a:endParaRPr lang="en-US" sz="1100" dirty="0"/>
          </a:p>
        </p:txBody>
      </p:sp>
      <p:sp>
        <p:nvSpPr>
          <p:cNvPr id="21" name="Text 18"/>
          <p:cNvSpPr/>
          <p:nvPr/>
        </p:nvSpPr>
        <p:spPr>
          <a:xfrm>
            <a:off x="5806440" y="4023360"/>
            <a:ext cx="2834640" cy="320040"/>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Total Population: 886</a:t>
            </a:r>
            <a:endParaRPr lang="en-US" sz="1100" dirty="0"/>
          </a:p>
        </p:txBody>
      </p:sp>
      <p:sp>
        <p:nvSpPr>
          <p:cNvPr id="22" name="Shape 19"/>
          <p:cNvSpPr/>
          <p:nvPr/>
        </p:nvSpPr>
        <p:spPr>
          <a:xfrm>
            <a:off x="5715000" y="4572000"/>
            <a:ext cx="3017520" cy="73152"/>
          </a:xfrm>
          <a:prstGeom prst="rect">
            <a:avLst/>
          </a:prstGeom>
          <a:solidFill>
            <a:srgbClr val="FF7A2F"/>
          </a:solidFill>
          <a:ln w="12700">
            <a:solidFill>
              <a:srgbClr val="E8570A"/>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0A0A0A"/>
            </a:solidFill>
            <a:prstDash val="solid"/>
          </a:ln>
        </p:spPr>
      </p:sp>
      <p:sp>
        <p:nvSpPr>
          <p:cNvPr id="3" name="Shape 1"/>
          <p:cNvSpPr/>
          <p:nvPr/>
        </p:nvSpPr>
        <p:spPr>
          <a:xfrm>
            <a:off x="0" y="0"/>
            <a:ext cx="9144000" cy="54864"/>
          </a:xfrm>
          <a:prstGeom prst="rect">
            <a:avLst/>
          </a:prstGeom>
          <a:solidFill>
            <a:srgbClr val="E8570A"/>
          </a:solidFill>
          <a:ln w="12700">
            <a:solidFill>
              <a:srgbClr val="E8570A"/>
            </a:solidFill>
            <a:prstDash val="solid"/>
          </a:ln>
        </p:spPr>
      </p:sp>
      <p:sp>
        <p:nvSpPr>
          <p:cNvPr id="4" name="Text 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TOBACCO AFFORDABILITY TREND</a:t>
            </a:r>
            <a:endParaRPr lang="en-US" sz="2200" dirty="0"/>
          </a:p>
        </p:txBody>
      </p:sp>
      <p:sp>
        <p:nvSpPr>
          <p:cNvPr id="5" name="Shape 3"/>
          <p:cNvSpPr/>
          <p:nvPr/>
        </p:nvSpPr>
        <p:spPr>
          <a:xfrm>
            <a:off x="274320" y="804672"/>
            <a:ext cx="2743200" cy="777240"/>
          </a:xfrm>
          <a:prstGeom prst="rect">
            <a:avLst/>
          </a:prstGeom>
          <a:solidFill>
            <a:srgbClr val="252525"/>
          </a:solidFill>
          <a:ln w="12700">
            <a:solidFill>
              <a:srgbClr val="E8570A"/>
            </a:solidFill>
            <a:prstDash val="solid"/>
          </a:ln>
        </p:spPr>
      </p:sp>
      <p:sp>
        <p:nvSpPr>
          <p:cNvPr id="6" name="Text 4"/>
          <p:cNvSpPr/>
          <p:nvPr/>
        </p:nvSpPr>
        <p:spPr>
          <a:xfrm>
            <a:off x="365760" y="850392"/>
            <a:ext cx="1371600" cy="457200"/>
          </a:xfrm>
          <a:prstGeom prst="rect">
            <a:avLst/>
          </a:prstGeom>
          <a:noFill/>
          <a:ln/>
        </p:spPr>
        <p:txBody>
          <a:bodyPr wrap="square" rtlCol="0" anchor="ctr"/>
          <a:lstStyle/>
          <a:p>
            <a:pPr marL="0" indent="0">
              <a:buNone/>
            </a:pPr>
            <a:r>
              <a:rPr lang="en-US" sz="2800" b="1" dirty="0">
                <a:solidFill>
                  <a:srgbClr val="E8570A"/>
                </a:solidFill>
                <a:latin typeface="Arial Black" pitchFamily="34" charset="0"/>
                <a:ea typeface="Arial Black" pitchFamily="34" charset="-122"/>
                <a:cs typeface="Arial Black" pitchFamily="34" charset="-120"/>
              </a:rPr>
              <a:t>104</a:t>
            </a:r>
            <a:endParaRPr lang="en-US" sz="2800" dirty="0"/>
          </a:p>
        </p:txBody>
      </p:sp>
      <p:sp>
        <p:nvSpPr>
          <p:cNvPr id="7" name="Text 5"/>
          <p:cNvSpPr/>
          <p:nvPr/>
        </p:nvSpPr>
        <p:spPr>
          <a:xfrm>
            <a:off x="365760" y="1325880"/>
            <a:ext cx="256032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Peak Index (1990)</a:t>
            </a:r>
            <a:endParaRPr lang="en-US" sz="1000" dirty="0"/>
          </a:p>
        </p:txBody>
      </p:sp>
      <p:sp>
        <p:nvSpPr>
          <p:cNvPr id="8" name="Shape 6"/>
          <p:cNvSpPr/>
          <p:nvPr/>
        </p:nvSpPr>
        <p:spPr>
          <a:xfrm>
            <a:off x="3200400" y="804672"/>
            <a:ext cx="2743200" cy="777240"/>
          </a:xfrm>
          <a:prstGeom prst="rect">
            <a:avLst/>
          </a:prstGeom>
          <a:solidFill>
            <a:srgbClr val="252525"/>
          </a:solidFill>
          <a:ln w="12700">
            <a:solidFill>
              <a:srgbClr val="E8570A"/>
            </a:solidFill>
            <a:prstDash val="solid"/>
          </a:ln>
        </p:spPr>
      </p:sp>
      <p:sp>
        <p:nvSpPr>
          <p:cNvPr id="9" name="Text 7"/>
          <p:cNvSpPr/>
          <p:nvPr/>
        </p:nvSpPr>
        <p:spPr>
          <a:xfrm>
            <a:off x="3291840" y="850392"/>
            <a:ext cx="1371600" cy="457200"/>
          </a:xfrm>
          <a:prstGeom prst="rect">
            <a:avLst/>
          </a:prstGeom>
          <a:noFill/>
          <a:ln/>
        </p:spPr>
        <p:txBody>
          <a:bodyPr wrap="square" rtlCol="0" anchor="ctr"/>
          <a:lstStyle/>
          <a:p>
            <a:pPr marL="0" indent="0">
              <a:buNone/>
            </a:pPr>
            <a:r>
              <a:rPr lang="en-US" sz="2800" b="1" dirty="0">
                <a:solidFill>
                  <a:srgbClr val="E8570A"/>
                </a:solidFill>
                <a:latin typeface="Arial Black" pitchFamily="34" charset="0"/>
                <a:ea typeface="Arial Black" pitchFamily="34" charset="-122"/>
                <a:cs typeface="Arial Black" pitchFamily="34" charset="-120"/>
              </a:rPr>
              <a:t>59</a:t>
            </a:r>
            <a:endParaRPr lang="en-US" sz="2800" dirty="0"/>
          </a:p>
        </p:txBody>
      </p:sp>
      <p:sp>
        <p:nvSpPr>
          <p:cNvPr id="10" name="Text 8"/>
          <p:cNvSpPr/>
          <p:nvPr/>
        </p:nvSpPr>
        <p:spPr>
          <a:xfrm>
            <a:off x="3291840" y="1325880"/>
            <a:ext cx="256032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Lowest (2015)</a:t>
            </a:r>
            <a:endParaRPr lang="en-US" sz="1000" dirty="0"/>
          </a:p>
        </p:txBody>
      </p:sp>
      <p:sp>
        <p:nvSpPr>
          <p:cNvPr id="11" name="Shape 9"/>
          <p:cNvSpPr/>
          <p:nvPr/>
        </p:nvSpPr>
        <p:spPr>
          <a:xfrm>
            <a:off x="6126480" y="804672"/>
            <a:ext cx="2743200" cy="777240"/>
          </a:xfrm>
          <a:prstGeom prst="rect">
            <a:avLst/>
          </a:prstGeom>
          <a:solidFill>
            <a:srgbClr val="252525"/>
          </a:solidFill>
          <a:ln w="12700">
            <a:solidFill>
              <a:srgbClr val="E8570A"/>
            </a:solidFill>
            <a:prstDash val="solid"/>
          </a:ln>
        </p:spPr>
      </p:sp>
      <p:sp>
        <p:nvSpPr>
          <p:cNvPr id="12" name="Text 10"/>
          <p:cNvSpPr/>
          <p:nvPr/>
        </p:nvSpPr>
        <p:spPr>
          <a:xfrm>
            <a:off x="6217920" y="850392"/>
            <a:ext cx="1371600" cy="457200"/>
          </a:xfrm>
          <a:prstGeom prst="rect">
            <a:avLst/>
          </a:prstGeom>
          <a:noFill/>
          <a:ln/>
        </p:spPr>
        <p:txBody>
          <a:bodyPr wrap="square" rtlCol="0" anchor="ctr"/>
          <a:lstStyle/>
          <a:p>
            <a:pPr marL="0" indent="0">
              <a:buNone/>
            </a:pPr>
            <a:r>
              <a:rPr lang="en-US" sz="2800" b="1" dirty="0">
                <a:solidFill>
                  <a:srgbClr val="E8570A"/>
                </a:solidFill>
                <a:latin typeface="Arial Black" pitchFamily="34" charset="0"/>
                <a:ea typeface="Arial Black" pitchFamily="34" charset="-122"/>
                <a:cs typeface="Arial Black" pitchFamily="34" charset="-120"/>
              </a:rPr>
              <a:t>43%</a:t>
            </a:r>
            <a:endParaRPr lang="en-US" sz="2800" dirty="0"/>
          </a:p>
        </p:txBody>
      </p:sp>
      <p:sp>
        <p:nvSpPr>
          <p:cNvPr id="13" name="Text 11"/>
          <p:cNvSpPr/>
          <p:nvPr/>
        </p:nvSpPr>
        <p:spPr>
          <a:xfrm>
            <a:off x="6217920" y="1325880"/>
            <a:ext cx="2560320" cy="228600"/>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Overall Decline</a:t>
            </a:r>
            <a:endParaRPr lang="en-US" sz="1000" dirty="0"/>
          </a:p>
        </p:txBody>
      </p:sp>
      <p:sp>
        <p:nvSpPr>
          <p:cNvPr id="14" name="Shape 12"/>
          <p:cNvSpPr/>
          <p:nvPr/>
        </p:nvSpPr>
        <p:spPr>
          <a:xfrm>
            <a:off x="274320" y="1691640"/>
            <a:ext cx="8595360" cy="3108960"/>
          </a:xfrm>
          <a:prstGeom prst="rect">
            <a:avLst/>
          </a:prstGeom>
          <a:solidFill>
            <a:srgbClr val="2D2D2D">
              <a:alpha val="85000"/>
            </a:srgbClr>
          </a:solidFill>
          <a:ln w="6350">
            <a:solidFill>
              <a:srgbClr val="3D3D3D"/>
            </a:solidFill>
            <a:prstDash val="solid"/>
          </a:ln>
        </p:spPr>
      </p:sp>
      <p:sp>
        <p:nvSpPr>
          <p:cNvPr id="15" name="Text 13"/>
          <p:cNvSpPr/>
          <p:nvPr/>
        </p:nvSpPr>
        <p:spPr>
          <a:xfrm>
            <a:off x="457200" y="1783080"/>
            <a:ext cx="6400800" cy="320040"/>
          </a:xfrm>
          <a:prstGeom prst="rect">
            <a:avLst/>
          </a:prstGeom>
          <a:noFill/>
          <a:ln/>
        </p:spPr>
        <p:txBody>
          <a:bodyPr wrap="square" rtlCol="0" anchor="ctr"/>
          <a:lstStyle/>
          <a:p>
            <a:pPr marL="0" indent="0">
              <a:buNone/>
            </a:pPr>
            <a:r>
              <a:rPr lang="en-US" sz="1200" i="1" dirty="0">
                <a:solidFill>
                  <a:srgbClr val="AAAAAA"/>
                </a:solidFill>
                <a:latin typeface="Calibri" pitchFamily="34" charset="0"/>
                <a:ea typeface="Calibri" pitchFamily="34" charset="-122"/>
                <a:cs typeface="Calibri" pitchFamily="34" charset="-120"/>
              </a:rPr>
              <a:t>Affordability of Tobacco Index by Year (1980–2015)</a:t>
            </a:r>
            <a:endParaRPr lang="en-US" sz="1200" dirty="0"/>
          </a:p>
        </p:txBody>
      </p:sp>
      <p:graphicFrame>
        <p:nvGraphicFramePr>
          <p:cNvPr id="16" name="Chart 0"/>
          <p:cNvGraphicFramePr/>
          <p:nvPr/>
        </p:nvGraphicFramePr>
        <p:xfrm>
          <a:off x="365760" y="2103120"/>
          <a:ext cx="8412480" cy="260604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0A0A0A"/>
            </a:solidFill>
            <a:prstDash val="solid"/>
          </a:ln>
        </p:spPr>
      </p:sp>
      <p:sp>
        <p:nvSpPr>
          <p:cNvPr id="3" name="Shape 1"/>
          <p:cNvSpPr/>
          <p:nvPr/>
        </p:nvSpPr>
        <p:spPr>
          <a:xfrm>
            <a:off x="0" y="0"/>
            <a:ext cx="9144000" cy="54864"/>
          </a:xfrm>
          <a:prstGeom prst="rect">
            <a:avLst/>
          </a:prstGeom>
          <a:solidFill>
            <a:srgbClr val="E8570A"/>
          </a:solidFill>
          <a:ln w="12700">
            <a:solidFill>
              <a:srgbClr val="E8570A"/>
            </a:solidFill>
            <a:prstDash val="solid"/>
          </a:ln>
        </p:spPr>
      </p:sp>
      <p:sp>
        <p:nvSpPr>
          <p:cNvPr id="4" name="Text 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TREATMENT &amp; PRESCRIPTIONS ANALYSIS</a:t>
            </a:r>
            <a:endParaRPr lang="en-US" sz="2200" dirty="0"/>
          </a:p>
        </p:txBody>
      </p:sp>
      <p:sp>
        <p:nvSpPr>
          <p:cNvPr id="5" name="Text 3"/>
          <p:cNvSpPr/>
          <p:nvPr/>
        </p:nvSpPr>
        <p:spPr>
          <a:xfrm>
            <a:off x="274320" y="777240"/>
            <a:ext cx="8595360" cy="320040"/>
          </a:xfrm>
          <a:prstGeom prst="rect">
            <a:avLst/>
          </a:prstGeom>
          <a:noFill/>
          <a:ln/>
        </p:spPr>
        <p:txBody>
          <a:bodyPr wrap="square" rtlCol="0" anchor="ctr"/>
          <a:lstStyle/>
          <a:p>
            <a:pPr marL="0" indent="0" algn="ctr">
              <a:buNone/>
            </a:pPr>
            <a:r>
              <a:rPr lang="en-US" sz="1200" i="1" dirty="0">
                <a:solidFill>
                  <a:srgbClr val="AAAAAA"/>
                </a:solidFill>
                <a:latin typeface="Calibri" pitchFamily="34" charset="0"/>
                <a:ea typeface="Calibri" pitchFamily="34" charset="-122"/>
                <a:cs typeface="Calibri" pitchFamily="34" charset="-120"/>
              </a:rPr>
              <a:t>Bupropion NRT Prescriptions and Varenicline Prescriptions by Year (2004–2015)</a:t>
            </a:r>
            <a:endParaRPr lang="en-US" sz="1200" dirty="0"/>
          </a:p>
        </p:txBody>
      </p:sp>
      <p:pic>
        <p:nvPicPr>
          <p:cNvPr id="6" name="Image 0" descr="preencoded.png"/>
          <p:cNvPicPr>
            <a:picLocks noChangeAspect="1"/>
          </p:cNvPicPr>
          <p:nvPr/>
        </p:nvPicPr>
        <p:blipFill>
          <a:blip r:embed="rId3"/>
          <a:stretch>
            <a:fillRect/>
          </a:stretch>
        </p:blipFill>
        <p:spPr>
          <a:xfrm>
            <a:off x="457200" y="1143000"/>
            <a:ext cx="274320" cy="274320"/>
          </a:xfrm>
          <a:prstGeom prst="rect">
            <a:avLst/>
          </a:prstGeom>
        </p:spPr>
      </p:pic>
      <p:sp>
        <p:nvSpPr>
          <p:cNvPr id="7" name="Shape 4"/>
          <p:cNvSpPr/>
          <p:nvPr/>
        </p:nvSpPr>
        <p:spPr>
          <a:xfrm>
            <a:off x="457200" y="1170432"/>
            <a:ext cx="228600" cy="164592"/>
          </a:xfrm>
          <a:prstGeom prst="rect">
            <a:avLst/>
          </a:prstGeom>
          <a:solidFill>
            <a:srgbClr val="E8570A"/>
          </a:solidFill>
          <a:ln w="12700">
            <a:solidFill>
              <a:srgbClr val="E8570A"/>
            </a:solidFill>
            <a:prstDash val="solid"/>
          </a:ln>
        </p:spPr>
      </p:sp>
      <p:sp>
        <p:nvSpPr>
          <p:cNvPr id="8" name="Text 5"/>
          <p:cNvSpPr/>
          <p:nvPr/>
        </p:nvSpPr>
        <p:spPr>
          <a:xfrm>
            <a:off x="777240" y="1143000"/>
            <a:ext cx="2468880" cy="256032"/>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Bupropion Prescriptions</a:t>
            </a:r>
            <a:endParaRPr lang="en-US" sz="1000" dirty="0"/>
          </a:p>
        </p:txBody>
      </p:sp>
      <p:sp>
        <p:nvSpPr>
          <p:cNvPr id="9" name="Shape 6"/>
          <p:cNvSpPr/>
          <p:nvPr/>
        </p:nvSpPr>
        <p:spPr>
          <a:xfrm>
            <a:off x="3291840" y="1170432"/>
            <a:ext cx="228600" cy="164592"/>
          </a:xfrm>
          <a:prstGeom prst="rect">
            <a:avLst/>
          </a:prstGeom>
          <a:solidFill>
            <a:srgbClr val="FF7A2F"/>
          </a:solidFill>
          <a:ln w="12700">
            <a:solidFill>
              <a:srgbClr val="FF7A2F"/>
            </a:solidFill>
            <a:prstDash val="solid"/>
          </a:ln>
        </p:spPr>
      </p:sp>
      <p:sp>
        <p:nvSpPr>
          <p:cNvPr id="10" name="Text 7"/>
          <p:cNvSpPr/>
          <p:nvPr/>
        </p:nvSpPr>
        <p:spPr>
          <a:xfrm>
            <a:off x="3611880" y="1143000"/>
            <a:ext cx="2468880" cy="256032"/>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Nicotine Replacement Therapy (NRT)</a:t>
            </a:r>
            <a:endParaRPr lang="en-US" sz="1000" dirty="0"/>
          </a:p>
        </p:txBody>
      </p:sp>
      <p:sp>
        <p:nvSpPr>
          <p:cNvPr id="11" name="Shape 8"/>
          <p:cNvSpPr/>
          <p:nvPr/>
        </p:nvSpPr>
        <p:spPr>
          <a:xfrm>
            <a:off x="6126480" y="1170432"/>
            <a:ext cx="228600" cy="164592"/>
          </a:xfrm>
          <a:prstGeom prst="rect">
            <a:avLst/>
          </a:prstGeom>
          <a:solidFill>
            <a:srgbClr val="CC4400"/>
          </a:solidFill>
          <a:ln w="12700">
            <a:solidFill>
              <a:srgbClr val="CC4400"/>
            </a:solidFill>
            <a:prstDash val="solid"/>
          </a:ln>
        </p:spPr>
      </p:sp>
      <p:sp>
        <p:nvSpPr>
          <p:cNvPr id="12" name="Text 9"/>
          <p:cNvSpPr/>
          <p:nvPr/>
        </p:nvSpPr>
        <p:spPr>
          <a:xfrm>
            <a:off x="6446520" y="1143000"/>
            <a:ext cx="2468880" cy="256032"/>
          </a:xfrm>
          <a:prstGeom prst="rect">
            <a:avLst/>
          </a:prstGeom>
          <a:noFill/>
          <a:ln/>
        </p:spPr>
        <p:txBody>
          <a:bodyPr wrap="square" rtlCol="0" anchor="ctr"/>
          <a:lstStyle/>
          <a:p>
            <a:pPr marL="0" indent="0">
              <a:buNone/>
            </a:pPr>
            <a:r>
              <a:rPr lang="en-US" sz="1000" dirty="0">
                <a:solidFill>
                  <a:srgbClr val="AAAAAA"/>
                </a:solidFill>
                <a:latin typeface="Calibri" pitchFamily="34" charset="0"/>
                <a:ea typeface="Calibri" pitchFamily="34" charset="-122"/>
                <a:cs typeface="Calibri" pitchFamily="34" charset="-120"/>
              </a:rPr>
              <a:t>Varenicline Prescriptions</a:t>
            </a:r>
            <a:endParaRPr lang="en-US" sz="1000" dirty="0"/>
          </a:p>
        </p:txBody>
      </p:sp>
      <p:sp>
        <p:nvSpPr>
          <p:cNvPr id="13" name="Shape 10"/>
          <p:cNvSpPr/>
          <p:nvPr/>
        </p:nvSpPr>
        <p:spPr>
          <a:xfrm>
            <a:off x="274320" y="1463040"/>
            <a:ext cx="8595360" cy="3337560"/>
          </a:xfrm>
          <a:prstGeom prst="rect">
            <a:avLst/>
          </a:prstGeom>
          <a:solidFill>
            <a:srgbClr val="2D2D2D">
              <a:alpha val="85000"/>
            </a:srgbClr>
          </a:solidFill>
          <a:ln w="6350">
            <a:solidFill>
              <a:srgbClr val="3D3D3D"/>
            </a:solidFill>
            <a:prstDash val="solid"/>
          </a:ln>
        </p:spPr>
      </p:sp>
      <p:graphicFrame>
        <p:nvGraphicFramePr>
          <p:cNvPr id="14" name="Chart 0"/>
          <p:cNvGraphicFramePr/>
          <p:nvPr/>
        </p:nvGraphicFramePr>
        <p:xfrm>
          <a:off x="365760" y="1554480"/>
          <a:ext cx="8412480" cy="31546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D2D2D"/>
          </a:solidFill>
          <a:ln w="12700">
            <a:solidFill>
              <a:srgbClr val="0A0A0A"/>
            </a:solidFill>
            <a:prstDash val="solid"/>
          </a:ln>
        </p:spPr>
      </p:sp>
      <p:sp>
        <p:nvSpPr>
          <p:cNvPr id="3" name="Shape 1"/>
          <p:cNvSpPr/>
          <p:nvPr/>
        </p:nvSpPr>
        <p:spPr>
          <a:xfrm>
            <a:off x="0" y="0"/>
            <a:ext cx="9144000" cy="54864"/>
          </a:xfrm>
          <a:prstGeom prst="rect">
            <a:avLst/>
          </a:prstGeom>
          <a:solidFill>
            <a:srgbClr val="E8570A"/>
          </a:solidFill>
          <a:ln w="12700">
            <a:solidFill>
              <a:srgbClr val="E8570A"/>
            </a:solidFill>
            <a:prstDash val="solid"/>
          </a:ln>
        </p:spPr>
      </p:sp>
      <p:sp>
        <p:nvSpPr>
          <p:cNvPr id="4" name="Text 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TOBACCO EXPENDITURE ANALYSIS</a:t>
            </a:r>
            <a:endParaRPr lang="en-US" sz="2200" dirty="0"/>
          </a:p>
        </p:txBody>
      </p:sp>
      <p:sp>
        <p:nvSpPr>
          <p:cNvPr id="5" name="Shape 3"/>
          <p:cNvSpPr/>
          <p:nvPr/>
        </p:nvSpPr>
        <p:spPr>
          <a:xfrm>
            <a:off x="274320" y="822960"/>
            <a:ext cx="2743200" cy="777240"/>
          </a:xfrm>
          <a:prstGeom prst="rect">
            <a:avLst/>
          </a:prstGeom>
          <a:solidFill>
            <a:srgbClr val="252525"/>
          </a:solidFill>
          <a:ln w="12700">
            <a:solidFill>
              <a:srgbClr val="E8570A"/>
            </a:solidFill>
            <a:prstDash val="solid"/>
          </a:ln>
        </p:spPr>
      </p:sp>
      <p:sp>
        <p:nvSpPr>
          <p:cNvPr id="6" name="Text 4"/>
          <p:cNvSpPr/>
          <p:nvPr/>
        </p:nvSpPr>
        <p:spPr>
          <a:xfrm>
            <a:off x="365760" y="841248"/>
            <a:ext cx="2560320" cy="457200"/>
          </a:xfrm>
          <a:prstGeom prst="rect">
            <a:avLst/>
          </a:prstGeom>
          <a:noFill/>
          <a:ln/>
        </p:spPr>
        <p:txBody>
          <a:bodyPr wrap="square" rtlCol="0" anchor="ctr"/>
          <a:lstStyle/>
          <a:p>
            <a:pPr marL="0" indent="0" algn="ctr">
              <a:buNone/>
            </a:pPr>
            <a:r>
              <a:rPr lang="en-US" sz="2800" b="1" dirty="0">
                <a:solidFill>
                  <a:srgbClr val="E8570A"/>
                </a:solidFill>
                <a:latin typeface="Arial Black" pitchFamily="34" charset="0"/>
                <a:ea typeface="Arial Black" pitchFamily="34" charset="-122"/>
                <a:cs typeface="Arial Black" pitchFamily="34" charset="-120"/>
              </a:rPr>
              <a:t>5.2%</a:t>
            </a:r>
            <a:endParaRPr lang="en-US" sz="2800" dirty="0"/>
          </a:p>
        </p:txBody>
      </p:sp>
      <p:sp>
        <p:nvSpPr>
          <p:cNvPr id="7" name="Text 5"/>
          <p:cNvSpPr/>
          <p:nvPr/>
        </p:nvSpPr>
        <p:spPr>
          <a:xfrm>
            <a:off x="365760" y="1325880"/>
            <a:ext cx="2560320" cy="22860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Peak Expenditure Share</a:t>
            </a:r>
            <a:endParaRPr lang="en-US" sz="1000" dirty="0"/>
          </a:p>
        </p:txBody>
      </p:sp>
      <p:sp>
        <p:nvSpPr>
          <p:cNvPr id="8" name="Shape 6"/>
          <p:cNvSpPr/>
          <p:nvPr/>
        </p:nvSpPr>
        <p:spPr>
          <a:xfrm>
            <a:off x="3200400" y="822960"/>
            <a:ext cx="2743200" cy="777240"/>
          </a:xfrm>
          <a:prstGeom prst="rect">
            <a:avLst/>
          </a:prstGeom>
          <a:solidFill>
            <a:srgbClr val="252525"/>
          </a:solidFill>
          <a:ln w="12700">
            <a:solidFill>
              <a:srgbClr val="E8570A"/>
            </a:solidFill>
            <a:prstDash val="solid"/>
          </a:ln>
        </p:spPr>
      </p:sp>
      <p:sp>
        <p:nvSpPr>
          <p:cNvPr id="9" name="Text 7"/>
          <p:cNvSpPr/>
          <p:nvPr/>
        </p:nvSpPr>
        <p:spPr>
          <a:xfrm>
            <a:off x="3291840" y="841248"/>
            <a:ext cx="2560320" cy="457200"/>
          </a:xfrm>
          <a:prstGeom prst="rect">
            <a:avLst/>
          </a:prstGeom>
          <a:noFill/>
          <a:ln/>
        </p:spPr>
        <p:txBody>
          <a:bodyPr wrap="square" rtlCol="0" anchor="ctr"/>
          <a:lstStyle/>
          <a:p>
            <a:pPr marL="0" indent="0" algn="ctr">
              <a:buNone/>
            </a:pPr>
            <a:r>
              <a:rPr lang="en-US" sz="2800" b="1" dirty="0">
                <a:solidFill>
                  <a:srgbClr val="E8570A"/>
                </a:solidFill>
                <a:latin typeface="Arial Black" pitchFamily="34" charset="0"/>
                <a:ea typeface="Arial Black" pitchFamily="34" charset="-122"/>
                <a:cs typeface="Arial Black" pitchFamily="34" charset="-120"/>
              </a:rPr>
              <a:t>0.8%</a:t>
            </a:r>
            <a:endParaRPr lang="en-US" sz="2800" dirty="0"/>
          </a:p>
        </p:txBody>
      </p:sp>
      <p:sp>
        <p:nvSpPr>
          <p:cNvPr id="10" name="Text 8"/>
          <p:cNvSpPr/>
          <p:nvPr/>
        </p:nvSpPr>
        <p:spPr>
          <a:xfrm>
            <a:off x="3291840" y="1325880"/>
            <a:ext cx="2560320" cy="22860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Minimum Share</a:t>
            </a:r>
            <a:endParaRPr lang="en-US" sz="1000" dirty="0"/>
          </a:p>
        </p:txBody>
      </p:sp>
      <p:sp>
        <p:nvSpPr>
          <p:cNvPr id="11" name="Shape 9"/>
          <p:cNvSpPr/>
          <p:nvPr/>
        </p:nvSpPr>
        <p:spPr>
          <a:xfrm>
            <a:off x="6126480" y="822960"/>
            <a:ext cx="2743200" cy="777240"/>
          </a:xfrm>
          <a:prstGeom prst="rect">
            <a:avLst/>
          </a:prstGeom>
          <a:solidFill>
            <a:srgbClr val="252525"/>
          </a:solidFill>
          <a:ln w="12700">
            <a:solidFill>
              <a:srgbClr val="E8570A"/>
            </a:solidFill>
            <a:prstDash val="solid"/>
          </a:ln>
        </p:spPr>
      </p:sp>
      <p:sp>
        <p:nvSpPr>
          <p:cNvPr id="12" name="Text 10"/>
          <p:cNvSpPr/>
          <p:nvPr/>
        </p:nvSpPr>
        <p:spPr>
          <a:xfrm>
            <a:off x="6217920" y="841248"/>
            <a:ext cx="2560320" cy="457200"/>
          </a:xfrm>
          <a:prstGeom prst="rect">
            <a:avLst/>
          </a:prstGeom>
          <a:noFill/>
          <a:ln/>
        </p:spPr>
        <p:txBody>
          <a:bodyPr wrap="square" rtlCol="0" anchor="ctr"/>
          <a:lstStyle/>
          <a:p>
            <a:pPr marL="0" indent="0" algn="ctr">
              <a:buNone/>
            </a:pPr>
            <a:r>
              <a:rPr lang="en-US" sz="2800" b="1" dirty="0">
                <a:solidFill>
                  <a:srgbClr val="E8570A"/>
                </a:solidFill>
                <a:latin typeface="Arial Black" pitchFamily="34" charset="0"/>
                <a:ea typeface="Arial Black" pitchFamily="34" charset="-122"/>
                <a:cs typeface="Arial Black" pitchFamily="34" charset="-120"/>
              </a:rPr>
              <a:t>2.5%</a:t>
            </a:r>
            <a:endParaRPr lang="en-US" sz="2800" dirty="0"/>
          </a:p>
        </p:txBody>
      </p:sp>
      <p:sp>
        <p:nvSpPr>
          <p:cNvPr id="13" name="Text 11"/>
          <p:cNvSpPr/>
          <p:nvPr/>
        </p:nvSpPr>
        <p:spPr>
          <a:xfrm>
            <a:off x="6217920" y="1325880"/>
            <a:ext cx="2560320" cy="22860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Average Share</a:t>
            </a:r>
            <a:endParaRPr lang="en-US" sz="1000" dirty="0"/>
          </a:p>
        </p:txBody>
      </p:sp>
      <p:sp>
        <p:nvSpPr>
          <p:cNvPr id="14" name="Shape 12"/>
          <p:cNvSpPr/>
          <p:nvPr/>
        </p:nvSpPr>
        <p:spPr>
          <a:xfrm>
            <a:off x="274320" y="1737360"/>
            <a:ext cx="8595360" cy="3063240"/>
          </a:xfrm>
          <a:prstGeom prst="rect">
            <a:avLst/>
          </a:prstGeom>
          <a:solidFill>
            <a:srgbClr val="2D2D2D">
              <a:alpha val="85000"/>
            </a:srgbClr>
          </a:solidFill>
          <a:ln w="6350">
            <a:solidFill>
              <a:srgbClr val="3D3D3D"/>
            </a:solidFill>
            <a:prstDash val="solid"/>
          </a:ln>
        </p:spPr>
      </p:sp>
      <p:sp>
        <p:nvSpPr>
          <p:cNvPr id="15" name="Text 13"/>
          <p:cNvSpPr/>
          <p:nvPr/>
        </p:nvSpPr>
        <p:spPr>
          <a:xfrm>
            <a:off x="457200" y="1828800"/>
            <a:ext cx="7772400" cy="320040"/>
          </a:xfrm>
          <a:prstGeom prst="rect">
            <a:avLst/>
          </a:prstGeom>
          <a:noFill/>
          <a:ln/>
        </p:spPr>
        <p:txBody>
          <a:bodyPr wrap="square" rtlCol="0" anchor="ctr"/>
          <a:lstStyle/>
          <a:p>
            <a:pPr marL="0" indent="0">
              <a:buNone/>
            </a:pPr>
            <a:r>
              <a:rPr lang="en-US" sz="1200" i="1" dirty="0">
                <a:solidFill>
                  <a:srgbClr val="AAAAAA"/>
                </a:solidFill>
                <a:latin typeface="Calibri" pitchFamily="34" charset="0"/>
                <a:ea typeface="Calibri" pitchFamily="34" charset="-122"/>
                <a:cs typeface="Calibri" pitchFamily="34" charset="-120"/>
              </a:rPr>
              <a:t>Tobacco Expenditure as % of Total Household Expenditure Over Time</a:t>
            </a:r>
            <a:endParaRPr lang="en-US" sz="1200" dirty="0"/>
          </a:p>
        </p:txBody>
      </p:sp>
      <p:pic>
        <p:nvPicPr>
          <p:cNvPr id="16" name="Image 0" descr="preencoded.png"/>
          <p:cNvPicPr>
            <a:picLocks noChangeAspect="1"/>
          </p:cNvPicPr>
          <p:nvPr/>
        </p:nvPicPr>
        <p:blipFill>
          <a:blip r:embed="rId3"/>
          <a:stretch>
            <a:fillRect/>
          </a:stretch>
        </p:blipFill>
        <p:spPr>
          <a:xfrm>
            <a:off x="8412480" y="1783080"/>
            <a:ext cx="320040" cy="320040"/>
          </a:xfrm>
          <a:prstGeom prst="rect">
            <a:avLst/>
          </a:prstGeom>
        </p:spPr>
      </p:pic>
      <p:graphicFrame>
        <p:nvGraphicFramePr>
          <p:cNvPr id="17" name="Chart 0"/>
          <p:cNvGraphicFramePr/>
          <p:nvPr/>
        </p:nvGraphicFramePr>
        <p:xfrm>
          <a:off x="365760" y="2194560"/>
          <a:ext cx="8412480" cy="25146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
          </a:xfrm>
          <a:prstGeom prst="rect">
            <a:avLst/>
          </a:prstGeom>
          <a:solidFill>
            <a:srgbClr val="1A1A1A">
              <a:alpha val="40000"/>
            </a:srgbClr>
          </a:solidFill>
          <a:ln w="12700">
            <a:solidFill>
              <a:srgbClr val="0A0A0A"/>
            </a:solidFill>
            <a:prstDash val="solid"/>
          </a:ln>
        </p:spPr>
      </p:sp>
      <p:sp>
        <p:nvSpPr>
          <p:cNvPr id="3" name="Shape 1"/>
          <p:cNvSpPr/>
          <p:nvPr/>
        </p:nvSpPr>
        <p:spPr>
          <a:xfrm>
            <a:off x="0" y="548640"/>
            <a:ext cx="9144000" cy="274320"/>
          </a:xfrm>
          <a:prstGeom prst="rect">
            <a:avLst/>
          </a:prstGeom>
          <a:solidFill>
            <a:srgbClr val="1A1A1A">
              <a:alpha val="37000"/>
            </a:srgbClr>
          </a:solidFill>
          <a:ln w="12700">
            <a:solidFill>
              <a:srgbClr val="0A0A0A"/>
            </a:solidFill>
            <a:prstDash val="solid"/>
          </a:ln>
        </p:spPr>
      </p:sp>
      <p:sp>
        <p:nvSpPr>
          <p:cNvPr id="4" name="Shape 2"/>
          <p:cNvSpPr/>
          <p:nvPr/>
        </p:nvSpPr>
        <p:spPr>
          <a:xfrm>
            <a:off x="0" y="1097280"/>
            <a:ext cx="9144000" cy="274320"/>
          </a:xfrm>
          <a:prstGeom prst="rect">
            <a:avLst/>
          </a:prstGeom>
          <a:solidFill>
            <a:srgbClr val="1A1A1A">
              <a:alpha val="34000"/>
            </a:srgbClr>
          </a:solidFill>
          <a:ln w="12700">
            <a:solidFill>
              <a:srgbClr val="0A0A0A"/>
            </a:solidFill>
            <a:prstDash val="solid"/>
          </a:ln>
        </p:spPr>
      </p:sp>
      <p:sp>
        <p:nvSpPr>
          <p:cNvPr id="5" name="Shape 3"/>
          <p:cNvSpPr/>
          <p:nvPr/>
        </p:nvSpPr>
        <p:spPr>
          <a:xfrm>
            <a:off x="0" y="1645920"/>
            <a:ext cx="9144000" cy="274320"/>
          </a:xfrm>
          <a:prstGeom prst="rect">
            <a:avLst/>
          </a:prstGeom>
          <a:solidFill>
            <a:srgbClr val="1A1A1A">
              <a:alpha val="31000"/>
            </a:srgbClr>
          </a:solidFill>
          <a:ln w="12700">
            <a:solidFill>
              <a:srgbClr val="0A0A0A"/>
            </a:solidFill>
            <a:prstDash val="solid"/>
          </a:ln>
        </p:spPr>
      </p:sp>
      <p:sp>
        <p:nvSpPr>
          <p:cNvPr id="6" name="Shape 4"/>
          <p:cNvSpPr/>
          <p:nvPr/>
        </p:nvSpPr>
        <p:spPr>
          <a:xfrm>
            <a:off x="0" y="2194560"/>
            <a:ext cx="9144000" cy="274320"/>
          </a:xfrm>
          <a:prstGeom prst="rect">
            <a:avLst/>
          </a:prstGeom>
          <a:solidFill>
            <a:srgbClr val="1A1A1A">
              <a:alpha val="28000"/>
            </a:srgbClr>
          </a:solidFill>
          <a:ln w="12700">
            <a:solidFill>
              <a:srgbClr val="0A0A0A"/>
            </a:solidFill>
            <a:prstDash val="solid"/>
          </a:ln>
        </p:spPr>
      </p:sp>
      <p:sp>
        <p:nvSpPr>
          <p:cNvPr id="7" name="Shape 5"/>
          <p:cNvSpPr/>
          <p:nvPr/>
        </p:nvSpPr>
        <p:spPr>
          <a:xfrm>
            <a:off x="0" y="2743200"/>
            <a:ext cx="9144000" cy="274320"/>
          </a:xfrm>
          <a:prstGeom prst="rect">
            <a:avLst/>
          </a:prstGeom>
          <a:solidFill>
            <a:srgbClr val="1A1A1A">
              <a:alpha val="25000"/>
            </a:srgbClr>
          </a:solidFill>
          <a:ln w="12700">
            <a:solidFill>
              <a:srgbClr val="0A0A0A"/>
            </a:solidFill>
            <a:prstDash val="solid"/>
          </a:ln>
        </p:spPr>
      </p:sp>
      <p:sp>
        <p:nvSpPr>
          <p:cNvPr id="8" name="Shape 6"/>
          <p:cNvSpPr/>
          <p:nvPr/>
        </p:nvSpPr>
        <p:spPr>
          <a:xfrm>
            <a:off x="0" y="3291840"/>
            <a:ext cx="9144000" cy="274320"/>
          </a:xfrm>
          <a:prstGeom prst="rect">
            <a:avLst/>
          </a:prstGeom>
          <a:solidFill>
            <a:srgbClr val="1A1A1A">
              <a:alpha val="22000"/>
            </a:srgbClr>
          </a:solidFill>
          <a:ln w="12700">
            <a:solidFill>
              <a:srgbClr val="0A0A0A"/>
            </a:solidFill>
            <a:prstDash val="solid"/>
          </a:ln>
        </p:spPr>
      </p:sp>
      <p:sp>
        <p:nvSpPr>
          <p:cNvPr id="9" name="Shape 7"/>
          <p:cNvSpPr/>
          <p:nvPr/>
        </p:nvSpPr>
        <p:spPr>
          <a:xfrm>
            <a:off x="0" y="3840480"/>
            <a:ext cx="9144000" cy="274320"/>
          </a:xfrm>
          <a:prstGeom prst="rect">
            <a:avLst/>
          </a:prstGeom>
          <a:solidFill>
            <a:srgbClr val="1A1A1A">
              <a:alpha val="19000"/>
            </a:srgbClr>
          </a:solidFill>
          <a:ln w="12700">
            <a:solidFill>
              <a:srgbClr val="0A0A0A"/>
            </a:solidFill>
            <a:prstDash val="solid"/>
          </a:ln>
        </p:spPr>
      </p:sp>
      <p:sp>
        <p:nvSpPr>
          <p:cNvPr id="10" name="Shape 8"/>
          <p:cNvSpPr/>
          <p:nvPr/>
        </p:nvSpPr>
        <p:spPr>
          <a:xfrm>
            <a:off x="0" y="4389120"/>
            <a:ext cx="9144000" cy="274320"/>
          </a:xfrm>
          <a:prstGeom prst="rect">
            <a:avLst/>
          </a:prstGeom>
          <a:solidFill>
            <a:srgbClr val="1A1A1A">
              <a:alpha val="16000"/>
            </a:srgbClr>
          </a:solidFill>
          <a:ln w="12700">
            <a:solidFill>
              <a:srgbClr val="0A0A0A"/>
            </a:solidFill>
            <a:prstDash val="solid"/>
          </a:ln>
        </p:spPr>
      </p:sp>
      <p:sp>
        <p:nvSpPr>
          <p:cNvPr id="11" name="Shape 9"/>
          <p:cNvSpPr/>
          <p:nvPr/>
        </p:nvSpPr>
        <p:spPr>
          <a:xfrm>
            <a:off x="0" y="4937760"/>
            <a:ext cx="9144000" cy="274320"/>
          </a:xfrm>
          <a:prstGeom prst="rect">
            <a:avLst/>
          </a:prstGeom>
          <a:solidFill>
            <a:srgbClr val="1A1A1A">
              <a:alpha val="13000"/>
            </a:srgbClr>
          </a:solidFill>
          <a:ln w="12700">
            <a:solidFill>
              <a:srgbClr val="0A0A0A"/>
            </a:solidFill>
            <a:prstDash val="solid"/>
          </a:ln>
        </p:spPr>
      </p:sp>
      <p:sp>
        <p:nvSpPr>
          <p:cNvPr id="12" name="Shape 10"/>
          <p:cNvSpPr/>
          <p:nvPr/>
        </p:nvSpPr>
        <p:spPr>
          <a:xfrm>
            <a:off x="0" y="0"/>
            <a:ext cx="9144000" cy="685800"/>
          </a:xfrm>
          <a:prstGeom prst="rect">
            <a:avLst/>
          </a:prstGeom>
          <a:solidFill>
            <a:srgbClr val="2D2D2D"/>
          </a:solidFill>
          <a:ln w="12700">
            <a:solidFill>
              <a:srgbClr val="0A0A0A"/>
            </a:solidFill>
            <a:prstDash val="solid"/>
          </a:ln>
        </p:spPr>
      </p:sp>
      <p:sp>
        <p:nvSpPr>
          <p:cNvPr id="13" name="Shape 11"/>
          <p:cNvSpPr/>
          <p:nvPr/>
        </p:nvSpPr>
        <p:spPr>
          <a:xfrm>
            <a:off x="0" y="0"/>
            <a:ext cx="9144000" cy="54864"/>
          </a:xfrm>
          <a:prstGeom prst="rect">
            <a:avLst/>
          </a:prstGeom>
          <a:solidFill>
            <a:srgbClr val="E8570A"/>
          </a:solidFill>
          <a:ln w="12700">
            <a:solidFill>
              <a:srgbClr val="E8570A"/>
            </a:solidFill>
            <a:prstDash val="solid"/>
          </a:ln>
        </p:spPr>
      </p:sp>
      <p:sp>
        <p:nvSpPr>
          <p:cNvPr id="14" name="Text 12"/>
          <p:cNvSpPr/>
          <p:nvPr/>
        </p:nvSpPr>
        <p:spPr>
          <a:xfrm>
            <a:off x="274320" y="0"/>
            <a:ext cx="8229600" cy="685800"/>
          </a:xfrm>
          <a:prstGeom prst="rect">
            <a:avLst/>
          </a:prstGeom>
          <a:noFill/>
          <a:ln/>
        </p:spPr>
        <p:txBody>
          <a:bodyPr wrap="square" rtlCol="0" anchor="ctr"/>
          <a:lstStyle/>
          <a:p>
            <a:pPr marL="0" indent="0" algn="ctr">
              <a:buNone/>
            </a:pPr>
            <a:r>
              <a:rPr lang="en-US" sz="2200" b="1" kern="0" spc="300" dirty="0">
                <a:solidFill>
                  <a:srgbClr val="FFFFFF"/>
                </a:solidFill>
                <a:latin typeface="Arial Black" pitchFamily="34" charset="0"/>
                <a:ea typeface="Arial Black" pitchFamily="34" charset="-122"/>
                <a:cs typeface="Arial Black" pitchFamily="34" charset="-120"/>
              </a:rPr>
              <a:t>KEY INSIGHTS &amp; CONCLUSION</a:t>
            </a:r>
            <a:endParaRPr lang="en-US" sz="2200" dirty="0"/>
          </a:p>
        </p:txBody>
      </p:sp>
      <p:sp>
        <p:nvSpPr>
          <p:cNvPr id="15" name="Shape 13"/>
          <p:cNvSpPr/>
          <p:nvPr/>
        </p:nvSpPr>
        <p:spPr>
          <a:xfrm>
            <a:off x="274320" y="868680"/>
            <a:ext cx="4206240" cy="1691640"/>
          </a:xfrm>
          <a:prstGeom prst="rect">
            <a:avLst/>
          </a:prstGeom>
          <a:solidFill>
            <a:srgbClr val="252525"/>
          </a:solidFill>
          <a:ln w="6350">
            <a:solidFill>
              <a:srgbClr val="3D3D3D"/>
            </a:solidFill>
            <a:prstDash val="solid"/>
          </a:ln>
          <a:effectLst>
            <a:outerShdw blurRad="101600" dist="25400" dir="8100000" algn="bl" rotWithShape="0">
              <a:srgbClr val="000000">
                <a:alpha val="30000"/>
              </a:srgbClr>
            </a:outerShdw>
          </a:effectLst>
        </p:spPr>
      </p:sp>
      <p:sp>
        <p:nvSpPr>
          <p:cNvPr id="16" name="Shape 14"/>
          <p:cNvSpPr/>
          <p:nvPr/>
        </p:nvSpPr>
        <p:spPr>
          <a:xfrm>
            <a:off x="274320" y="868680"/>
            <a:ext cx="54864" cy="1691640"/>
          </a:xfrm>
          <a:prstGeom prst="rect">
            <a:avLst/>
          </a:prstGeom>
          <a:solidFill>
            <a:srgbClr val="E8570A"/>
          </a:solidFill>
          <a:ln w="12700">
            <a:solidFill>
              <a:srgbClr val="E8570A"/>
            </a:solidFill>
            <a:prstDash val="solid"/>
          </a:ln>
        </p:spPr>
      </p:sp>
      <p:pic>
        <p:nvPicPr>
          <p:cNvPr id="17" name="Image 0" descr="preencoded.png"/>
          <p:cNvPicPr>
            <a:picLocks noChangeAspect="1"/>
          </p:cNvPicPr>
          <p:nvPr/>
        </p:nvPicPr>
        <p:blipFill>
          <a:blip r:embed="rId3"/>
          <a:stretch>
            <a:fillRect/>
          </a:stretch>
        </p:blipFill>
        <p:spPr>
          <a:xfrm>
            <a:off x="411480" y="1051560"/>
            <a:ext cx="457200" cy="457200"/>
          </a:xfrm>
          <a:prstGeom prst="rect">
            <a:avLst/>
          </a:prstGeom>
        </p:spPr>
      </p:pic>
      <p:sp>
        <p:nvSpPr>
          <p:cNvPr id="18" name="Text 15"/>
          <p:cNvSpPr/>
          <p:nvPr/>
        </p:nvSpPr>
        <p:spPr>
          <a:xfrm>
            <a:off x="960120" y="1051560"/>
            <a:ext cx="3383280" cy="411480"/>
          </a:xfrm>
          <a:prstGeom prst="rect">
            <a:avLst/>
          </a:prstGeom>
          <a:noFill/>
          <a:ln/>
        </p:spPr>
        <p:txBody>
          <a:bodyPr wrap="square" rtlCol="0" anchor="ctr"/>
          <a:lstStyle/>
          <a:p>
            <a:pPr marL="0" indent="0">
              <a:buNone/>
            </a:pPr>
            <a:r>
              <a:rPr lang="en-US" sz="1400" b="1" dirty="0">
                <a:solidFill>
                  <a:srgbClr val="E8570A"/>
                </a:solidFill>
                <a:latin typeface="Arial" pitchFamily="34" charset="0"/>
                <a:ea typeface="Arial" pitchFamily="34" charset="-122"/>
                <a:cs typeface="Arial" pitchFamily="34" charset="-120"/>
              </a:rPr>
              <a:t>Smoking Prevalence</a:t>
            </a:r>
            <a:endParaRPr lang="en-US" sz="1400" dirty="0"/>
          </a:p>
        </p:txBody>
      </p:sp>
      <p:sp>
        <p:nvSpPr>
          <p:cNvPr id="19" name="Text 16"/>
          <p:cNvSpPr/>
          <p:nvPr/>
        </p:nvSpPr>
        <p:spPr>
          <a:xfrm>
            <a:off x="411480" y="1554480"/>
            <a:ext cx="3931920" cy="914400"/>
          </a:xfrm>
          <a:prstGeom prst="rect">
            <a:avLst/>
          </a:prstGeom>
          <a:noFill/>
          <a:ln/>
        </p:spPr>
        <p:txBody>
          <a:bodyPr wrap="square" rtlCol="0" anchor="ctr"/>
          <a:lstStyle/>
          <a:p>
            <a:pPr marL="0" indent="0">
              <a:buNone/>
            </a:pPr>
            <a:r>
              <a:rPr lang="en-US" sz="1100" dirty="0">
                <a:solidFill>
                  <a:srgbClr val="E8E8E8"/>
                </a:solidFill>
                <a:latin typeface="Calibri" pitchFamily="34" charset="0"/>
                <a:ea typeface="Calibri" pitchFamily="34" charset="-122"/>
                <a:cs typeface="Calibri" pitchFamily="34" charset="-120"/>
              </a:rPr>
              <a:t>Over 9,640 individuals identified as active smokers. Middle-age group (25-54) represents the largest segment at 37.8% of all smokers.</a:t>
            </a:r>
            <a:endParaRPr lang="en-US" sz="1100" dirty="0"/>
          </a:p>
        </p:txBody>
      </p:sp>
      <p:sp>
        <p:nvSpPr>
          <p:cNvPr id="20" name="Shape 17"/>
          <p:cNvSpPr/>
          <p:nvPr/>
        </p:nvSpPr>
        <p:spPr>
          <a:xfrm>
            <a:off x="4709160" y="868680"/>
            <a:ext cx="4206240" cy="1691640"/>
          </a:xfrm>
          <a:prstGeom prst="rect">
            <a:avLst/>
          </a:prstGeom>
          <a:solidFill>
            <a:srgbClr val="252525"/>
          </a:solidFill>
          <a:ln w="6350">
            <a:solidFill>
              <a:srgbClr val="3D3D3D"/>
            </a:solidFill>
            <a:prstDash val="solid"/>
          </a:ln>
          <a:effectLst>
            <a:outerShdw blurRad="101600" dist="25400" dir="8100000" algn="bl" rotWithShape="0">
              <a:srgbClr val="000000">
                <a:alpha val="30000"/>
              </a:srgbClr>
            </a:outerShdw>
          </a:effectLst>
        </p:spPr>
      </p:sp>
      <p:sp>
        <p:nvSpPr>
          <p:cNvPr id="21" name="Shape 18"/>
          <p:cNvSpPr/>
          <p:nvPr/>
        </p:nvSpPr>
        <p:spPr>
          <a:xfrm>
            <a:off x="4709160" y="868680"/>
            <a:ext cx="54864" cy="1691640"/>
          </a:xfrm>
          <a:prstGeom prst="rect">
            <a:avLst/>
          </a:prstGeom>
          <a:solidFill>
            <a:srgbClr val="E8570A"/>
          </a:solidFill>
          <a:ln w="12700">
            <a:solidFill>
              <a:srgbClr val="E8570A"/>
            </a:solidFill>
            <a:prstDash val="solid"/>
          </a:ln>
        </p:spPr>
      </p:sp>
      <p:pic>
        <p:nvPicPr>
          <p:cNvPr id="22" name="Image 1" descr="preencoded.png"/>
          <p:cNvPicPr>
            <a:picLocks noChangeAspect="1"/>
          </p:cNvPicPr>
          <p:nvPr/>
        </p:nvPicPr>
        <p:blipFill>
          <a:blip r:embed="rId4"/>
          <a:stretch>
            <a:fillRect/>
          </a:stretch>
        </p:blipFill>
        <p:spPr>
          <a:xfrm>
            <a:off x="4846320" y="1051560"/>
            <a:ext cx="457200" cy="457200"/>
          </a:xfrm>
          <a:prstGeom prst="rect">
            <a:avLst/>
          </a:prstGeom>
        </p:spPr>
      </p:pic>
      <p:sp>
        <p:nvSpPr>
          <p:cNvPr id="23" name="Text 19"/>
          <p:cNvSpPr/>
          <p:nvPr/>
        </p:nvSpPr>
        <p:spPr>
          <a:xfrm>
            <a:off x="5394960" y="1051560"/>
            <a:ext cx="3383280" cy="411480"/>
          </a:xfrm>
          <a:prstGeom prst="rect">
            <a:avLst/>
          </a:prstGeom>
          <a:noFill/>
          <a:ln/>
        </p:spPr>
        <p:txBody>
          <a:bodyPr wrap="square" rtlCol="0" anchor="ctr"/>
          <a:lstStyle/>
          <a:p>
            <a:pPr marL="0" indent="0">
              <a:buNone/>
            </a:pPr>
            <a:r>
              <a:rPr lang="en-US" sz="1400" b="1" dirty="0">
                <a:solidFill>
                  <a:srgbClr val="E8570A"/>
                </a:solidFill>
                <a:latin typeface="Arial" pitchFamily="34" charset="0"/>
                <a:ea typeface="Arial" pitchFamily="34" charset="-122"/>
                <a:cs typeface="Arial" pitchFamily="34" charset="-120"/>
              </a:rPr>
              <a:t>Mortality Impact</a:t>
            </a:r>
            <a:endParaRPr lang="en-US" sz="1400" dirty="0"/>
          </a:p>
        </p:txBody>
      </p:sp>
      <p:sp>
        <p:nvSpPr>
          <p:cNvPr id="24" name="Text 20"/>
          <p:cNvSpPr/>
          <p:nvPr/>
        </p:nvSpPr>
        <p:spPr>
          <a:xfrm>
            <a:off x="4846320" y="1554480"/>
            <a:ext cx="3931920" cy="914400"/>
          </a:xfrm>
          <a:prstGeom prst="rect">
            <a:avLst/>
          </a:prstGeom>
          <a:noFill/>
          <a:ln/>
        </p:spPr>
        <p:txBody>
          <a:bodyPr wrap="square" rtlCol="0" anchor="ctr"/>
          <a:lstStyle/>
          <a:p>
            <a:pPr marL="0" indent="0">
              <a:buNone/>
            </a:pPr>
            <a:r>
              <a:rPr lang="en-US" sz="1100" dirty="0">
                <a:solidFill>
                  <a:srgbClr val="E8E8E8"/>
                </a:solidFill>
                <a:latin typeface="Calibri" pitchFamily="34" charset="0"/>
                <a:ea typeface="Calibri" pitchFamily="34" charset="-122"/>
                <a:cs typeface="Calibri" pitchFamily="34" charset="-120"/>
              </a:rPr>
              <a:t>Mortality rate showed a steady upward trend from 0.95 to 1.10 over the 15-year study period, correlating with rising smoking value.</a:t>
            </a:r>
            <a:endParaRPr lang="en-US" sz="1100" dirty="0"/>
          </a:p>
        </p:txBody>
      </p:sp>
      <p:sp>
        <p:nvSpPr>
          <p:cNvPr id="25" name="Shape 21"/>
          <p:cNvSpPr/>
          <p:nvPr/>
        </p:nvSpPr>
        <p:spPr>
          <a:xfrm>
            <a:off x="274320" y="2788920"/>
            <a:ext cx="4206240" cy="1691640"/>
          </a:xfrm>
          <a:prstGeom prst="rect">
            <a:avLst/>
          </a:prstGeom>
          <a:solidFill>
            <a:srgbClr val="252525"/>
          </a:solidFill>
          <a:ln w="6350">
            <a:solidFill>
              <a:srgbClr val="3D3D3D"/>
            </a:solidFill>
            <a:prstDash val="solid"/>
          </a:ln>
          <a:effectLst>
            <a:outerShdw blurRad="101600" dist="25400" dir="8100000" algn="bl" rotWithShape="0">
              <a:srgbClr val="000000">
                <a:alpha val="30000"/>
              </a:srgbClr>
            </a:outerShdw>
          </a:effectLst>
        </p:spPr>
      </p:sp>
      <p:sp>
        <p:nvSpPr>
          <p:cNvPr id="26" name="Shape 22"/>
          <p:cNvSpPr/>
          <p:nvPr/>
        </p:nvSpPr>
        <p:spPr>
          <a:xfrm>
            <a:off x="274320" y="2788920"/>
            <a:ext cx="54864" cy="1691640"/>
          </a:xfrm>
          <a:prstGeom prst="rect">
            <a:avLst/>
          </a:prstGeom>
          <a:solidFill>
            <a:srgbClr val="E8570A"/>
          </a:solidFill>
          <a:ln w="12700">
            <a:solidFill>
              <a:srgbClr val="E8570A"/>
            </a:solidFill>
            <a:prstDash val="solid"/>
          </a:ln>
        </p:spPr>
      </p:sp>
      <p:pic>
        <p:nvPicPr>
          <p:cNvPr id="27" name="Image 2" descr="preencoded.png"/>
          <p:cNvPicPr>
            <a:picLocks noChangeAspect="1"/>
          </p:cNvPicPr>
          <p:nvPr/>
        </p:nvPicPr>
        <p:blipFill>
          <a:blip r:embed="rId5"/>
          <a:stretch>
            <a:fillRect/>
          </a:stretch>
        </p:blipFill>
        <p:spPr>
          <a:xfrm>
            <a:off x="411480" y="2971800"/>
            <a:ext cx="457200" cy="457200"/>
          </a:xfrm>
          <a:prstGeom prst="rect">
            <a:avLst/>
          </a:prstGeom>
        </p:spPr>
      </p:pic>
      <p:sp>
        <p:nvSpPr>
          <p:cNvPr id="28" name="Text 23"/>
          <p:cNvSpPr/>
          <p:nvPr/>
        </p:nvSpPr>
        <p:spPr>
          <a:xfrm>
            <a:off x="960120" y="2971800"/>
            <a:ext cx="3383280" cy="411480"/>
          </a:xfrm>
          <a:prstGeom prst="rect">
            <a:avLst/>
          </a:prstGeom>
          <a:noFill/>
          <a:ln/>
        </p:spPr>
        <p:txBody>
          <a:bodyPr wrap="square" rtlCol="0" anchor="ctr"/>
          <a:lstStyle/>
          <a:p>
            <a:pPr marL="0" indent="0">
              <a:buNone/>
            </a:pPr>
            <a:r>
              <a:rPr lang="en-US" sz="1400" b="1" dirty="0">
                <a:solidFill>
                  <a:srgbClr val="E8570A"/>
                </a:solidFill>
                <a:latin typeface="Arial" pitchFamily="34" charset="0"/>
                <a:ea typeface="Arial" pitchFamily="34" charset="-122"/>
                <a:cs typeface="Arial" pitchFamily="34" charset="-120"/>
              </a:rPr>
              <a:t>Affordability Declining</a:t>
            </a:r>
            <a:endParaRPr lang="en-US" sz="1400" dirty="0"/>
          </a:p>
        </p:txBody>
      </p:sp>
      <p:sp>
        <p:nvSpPr>
          <p:cNvPr id="29" name="Text 24"/>
          <p:cNvSpPr/>
          <p:nvPr/>
        </p:nvSpPr>
        <p:spPr>
          <a:xfrm>
            <a:off x="411480" y="3474720"/>
            <a:ext cx="3931920" cy="914400"/>
          </a:xfrm>
          <a:prstGeom prst="rect">
            <a:avLst/>
          </a:prstGeom>
          <a:noFill/>
          <a:ln/>
        </p:spPr>
        <p:txBody>
          <a:bodyPr wrap="square" rtlCol="0" anchor="ctr"/>
          <a:lstStyle/>
          <a:p>
            <a:pPr marL="0" indent="0">
              <a:buNone/>
            </a:pPr>
            <a:r>
              <a:rPr lang="en-US" sz="1100" dirty="0">
                <a:solidFill>
                  <a:srgbClr val="E8E8E8"/>
                </a:solidFill>
                <a:latin typeface="Calibri" pitchFamily="34" charset="0"/>
                <a:ea typeface="Calibri" pitchFamily="34" charset="-122"/>
                <a:cs typeface="Calibri" pitchFamily="34" charset="-120"/>
              </a:rPr>
              <a:t>Tobacco affordability index fell from a peak of 104 in 1990 to just 59 by 2015 — a 43% drop — suggesting pricing policies may be working.</a:t>
            </a:r>
            <a:endParaRPr lang="en-US" sz="1100" dirty="0"/>
          </a:p>
        </p:txBody>
      </p:sp>
      <p:sp>
        <p:nvSpPr>
          <p:cNvPr id="30" name="Shape 25"/>
          <p:cNvSpPr/>
          <p:nvPr/>
        </p:nvSpPr>
        <p:spPr>
          <a:xfrm>
            <a:off x="4709160" y="2788920"/>
            <a:ext cx="4206240" cy="1691640"/>
          </a:xfrm>
          <a:prstGeom prst="rect">
            <a:avLst/>
          </a:prstGeom>
          <a:solidFill>
            <a:srgbClr val="252525"/>
          </a:solidFill>
          <a:ln w="6350">
            <a:solidFill>
              <a:srgbClr val="3D3D3D"/>
            </a:solidFill>
            <a:prstDash val="solid"/>
          </a:ln>
          <a:effectLst>
            <a:outerShdw blurRad="101600" dist="25400" dir="8100000" algn="bl" rotWithShape="0">
              <a:srgbClr val="000000">
                <a:alpha val="30000"/>
              </a:srgbClr>
            </a:outerShdw>
          </a:effectLst>
        </p:spPr>
      </p:sp>
      <p:sp>
        <p:nvSpPr>
          <p:cNvPr id="31" name="Shape 26"/>
          <p:cNvSpPr/>
          <p:nvPr/>
        </p:nvSpPr>
        <p:spPr>
          <a:xfrm>
            <a:off x="4709160" y="2788920"/>
            <a:ext cx="54864" cy="1691640"/>
          </a:xfrm>
          <a:prstGeom prst="rect">
            <a:avLst/>
          </a:prstGeom>
          <a:solidFill>
            <a:srgbClr val="E8570A"/>
          </a:solidFill>
          <a:ln w="12700">
            <a:solidFill>
              <a:srgbClr val="E8570A"/>
            </a:solidFill>
            <a:prstDash val="solid"/>
          </a:ln>
        </p:spPr>
      </p:sp>
      <p:pic>
        <p:nvPicPr>
          <p:cNvPr id="32" name="Image 3" descr="preencoded.png"/>
          <p:cNvPicPr>
            <a:picLocks noChangeAspect="1"/>
          </p:cNvPicPr>
          <p:nvPr/>
        </p:nvPicPr>
        <p:blipFill>
          <a:blip r:embed="rId6"/>
          <a:stretch>
            <a:fillRect/>
          </a:stretch>
        </p:blipFill>
        <p:spPr>
          <a:xfrm>
            <a:off x="4846320" y="2971800"/>
            <a:ext cx="457200" cy="457200"/>
          </a:xfrm>
          <a:prstGeom prst="rect">
            <a:avLst/>
          </a:prstGeom>
        </p:spPr>
      </p:pic>
      <p:sp>
        <p:nvSpPr>
          <p:cNvPr id="33" name="Text 27"/>
          <p:cNvSpPr/>
          <p:nvPr/>
        </p:nvSpPr>
        <p:spPr>
          <a:xfrm>
            <a:off x="5394960" y="2971800"/>
            <a:ext cx="3383280" cy="411480"/>
          </a:xfrm>
          <a:prstGeom prst="rect">
            <a:avLst/>
          </a:prstGeom>
          <a:noFill/>
          <a:ln/>
        </p:spPr>
        <p:txBody>
          <a:bodyPr wrap="square" rtlCol="0" anchor="ctr"/>
          <a:lstStyle/>
          <a:p>
            <a:pPr marL="0" indent="0">
              <a:buNone/>
            </a:pPr>
            <a:r>
              <a:rPr lang="en-US" sz="1400" b="1" dirty="0">
                <a:solidFill>
                  <a:srgbClr val="E8570A"/>
                </a:solidFill>
                <a:latin typeface="Arial" pitchFamily="34" charset="0"/>
                <a:ea typeface="Arial" pitchFamily="34" charset="-122"/>
                <a:cs typeface="Arial" pitchFamily="34" charset="-120"/>
              </a:rPr>
              <a:t>Treatment Progress</a:t>
            </a:r>
            <a:endParaRPr lang="en-US" sz="1400" dirty="0"/>
          </a:p>
        </p:txBody>
      </p:sp>
      <p:sp>
        <p:nvSpPr>
          <p:cNvPr id="34" name="Text 28"/>
          <p:cNvSpPr/>
          <p:nvPr/>
        </p:nvSpPr>
        <p:spPr>
          <a:xfrm>
            <a:off x="4846320" y="3474720"/>
            <a:ext cx="3931920" cy="914400"/>
          </a:xfrm>
          <a:prstGeom prst="rect">
            <a:avLst/>
          </a:prstGeom>
          <a:noFill/>
          <a:ln/>
        </p:spPr>
        <p:txBody>
          <a:bodyPr wrap="square" rtlCol="0" anchor="ctr"/>
          <a:lstStyle/>
          <a:p>
            <a:pPr marL="0" indent="0">
              <a:buNone/>
            </a:pPr>
            <a:r>
              <a:rPr lang="en-US" sz="1100" dirty="0">
                <a:solidFill>
                  <a:srgbClr val="E8E8E8"/>
                </a:solidFill>
                <a:latin typeface="Calibri" pitchFamily="34" charset="0"/>
                <a:ea typeface="Calibri" pitchFamily="34" charset="-122"/>
                <a:cs typeface="Calibri" pitchFamily="34" charset="-120"/>
              </a:rPr>
              <a:t>Varenicline prescriptions grew significantly post-2006. NRT remains the most widely used cessation method across all years.</a:t>
            </a:r>
            <a:endParaRPr lang="en-US" sz="1100" dirty="0"/>
          </a:p>
        </p:txBody>
      </p:sp>
      <p:sp>
        <p:nvSpPr>
          <p:cNvPr id="35" name="Shape 29"/>
          <p:cNvSpPr/>
          <p:nvPr/>
        </p:nvSpPr>
        <p:spPr>
          <a:xfrm>
            <a:off x="274320" y="4709160"/>
            <a:ext cx="8595360" cy="548640"/>
          </a:xfrm>
          <a:prstGeom prst="rect">
            <a:avLst/>
          </a:prstGeom>
          <a:solidFill>
            <a:srgbClr val="2D2D2D">
              <a:alpha val="85000"/>
            </a:srgbClr>
          </a:solidFill>
          <a:ln w="6350">
            <a:solidFill>
              <a:srgbClr val="3D3D3D"/>
            </a:solidFill>
            <a:prstDash val="solid"/>
          </a:ln>
        </p:spPr>
      </p:sp>
      <p:sp>
        <p:nvSpPr>
          <p:cNvPr id="36" name="Shape 30"/>
          <p:cNvSpPr/>
          <p:nvPr/>
        </p:nvSpPr>
        <p:spPr>
          <a:xfrm>
            <a:off x="274320" y="4709160"/>
            <a:ext cx="8595360" cy="54864"/>
          </a:xfrm>
          <a:prstGeom prst="rect">
            <a:avLst/>
          </a:prstGeom>
          <a:solidFill>
            <a:srgbClr val="E8570A"/>
          </a:solidFill>
          <a:ln w="12700">
            <a:solidFill>
              <a:srgbClr val="E8570A"/>
            </a:solidFill>
            <a:prstDash val="solid"/>
          </a:ln>
        </p:spPr>
      </p:sp>
      <p:sp>
        <p:nvSpPr>
          <p:cNvPr id="37" name="Text 31"/>
          <p:cNvSpPr/>
          <p:nvPr/>
        </p:nvSpPr>
        <p:spPr>
          <a:xfrm>
            <a:off x="457200" y="4773168"/>
            <a:ext cx="8229600" cy="365760"/>
          </a:xfrm>
          <a:prstGeom prst="rect">
            <a:avLst/>
          </a:prstGeom>
          <a:noFill/>
          <a:ln/>
        </p:spPr>
        <p:txBody>
          <a:bodyPr wrap="square" rtlCol="0" anchor="ctr"/>
          <a:lstStyle/>
          <a:p>
            <a:pPr marL="0" indent="0" algn="ctr">
              <a:buNone/>
            </a:pPr>
            <a:r>
              <a:rPr lang="en-US" sz="1000" dirty="0">
                <a:solidFill>
                  <a:srgbClr val="AAAAAA"/>
                </a:solidFill>
                <a:latin typeface="Calibri" pitchFamily="34" charset="0"/>
                <a:ea typeface="Calibri" pitchFamily="34" charset="-122"/>
                <a:cs typeface="Calibri" pitchFamily="34" charset="-120"/>
              </a:rPr>
              <a:t>RECOMMENDATIONS: Strengthen cessation programs  |  Increase tobacco taxation  |  Expand NRT accessibility  |  Target middle-age demographics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460</TotalTime>
  <Words>501</Words>
  <Application>Microsoft Office PowerPoint</Application>
  <PresentationFormat>On-screen Show (16:9)</PresentationFormat>
  <Paragraphs>128</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Smoking Impact &amp; Healthcare Analysis</dc:title>
  <dc:subject>PptxGenJS Presentation</dc:subject>
  <dc:creator>PptxGenJS</dc:creator>
  <cp:lastModifiedBy>Dell</cp:lastModifiedBy>
  <cp:revision>6</cp:revision>
  <dcterms:created xsi:type="dcterms:W3CDTF">2026-04-13T09:37:42Z</dcterms:created>
  <dcterms:modified xsi:type="dcterms:W3CDTF">2026-04-13T17:32:23Z</dcterms:modified>
</cp:coreProperties>
</file>